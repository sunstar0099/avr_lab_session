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df86a84dea433a" /><Relationship Type="http://schemas.openxmlformats.org/officeDocument/2006/relationships/extended-properties" Target="/docProps/app.xml" Id="Rc841dc23e7bb48e5" /><Relationship Type="http://schemas.openxmlformats.org/officeDocument/2006/relationships/officeDocument" Target="/ppt/presentation.xml" Id="R575b58eb4ba942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75b7815d104aeb"/>
  </p:sldMasterIdLst>
  <p:notesMasterIdLst>
    <p:notesMasterId xmlns:r="http://schemas.openxmlformats.org/officeDocument/2006/relationships" r:id="Ra15de1089848469e"/>
  </p:notesMasterIdLst>
  <p:sldIdLst>
    <p:sldId xmlns:r="http://schemas.openxmlformats.org/officeDocument/2006/relationships" id="256" r:id="Rb658f60e0c6f4397"/>
    <p:sldId xmlns:r="http://schemas.openxmlformats.org/officeDocument/2006/relationships" id="257" r:id="R310e9e4605684d39"/>
    <p:sldId xmlns:r="http://schemas.openxmlformats.org/officeDocument/2006/relationships" id="258" r:id="R9fcc3d3c2eb34811"/>
    <p:sldId xmlns:r="http://schemas.openxmlformats.org/officeDocument/2006/relationships" id="259" r:id="R61494f928dd44422"/>
    <p:sldId xmlns:r="http://schemas.openxmlformats.org/officeDocument/2006/relationships" id="260" r:id="R7ff238e17a384bfc"/>
    <p:sldId xmlns:r="http://schemas.openxmlformats.org/officeDocument/2006/relationships" id="261" r:id="Re3b42c739d8945a5"/>
    <p:sldId xmlns:r="http://schemas.openxmlformats.org/officeDocument/2006/relationships" id="262" r:id="R9c98c5f1ecb84027"/>
    <p:sldId xmlns:r="http://schemas.openxmlformats.org/officeDocument/2006/relationships" id="263" r:id="Rcf14e6cfe16a4c97"/>
    <p:sldId xmlns:r="http://schemas.openxmlformats.org/officeDocument/2006/relationships" id="264" r:id="R51f59939fc2f4217"/>
    <p:sldId xmlns:r="http://schemas.openxmlformats.org/officeDocument/2006/relationships" id="265" r:id="R47d9b080a6e34328"/>
    <p:sldId xmlns:r="http://schemas.openxmlformats.org/officeDocument/2006/relationships" id="266" r:id="R6aa3877e20b14ac1"/>
    <p:sldId xmlns:r="http://schemas.openxmlformats.org/officeDocument/2006/relationships" id="267" r:id="R23a1dbad11ba49b4"/>
    <p:sldId xmlns:r="http://schemas.openxmlformats.org/officeDocument/2006/relationships" id="268" r:id="R6f014667a570471a"/>
    <p:sldId xmlns:r="http://schemas.openxmlformats.org/officeDocument/2006/relationships" id="269" r:id="Rd5ea4bfa95ac43c1"/>
    <p:sldId xmlns:r="http://schemas.openxmlformats.org/officeDocument/2006/relationships" id="270" r:id="R2b38fccaed56437f"/>
    <p:sldId xmlns:r="http://schemas.openxmlformats.org/officeDocument/2006/relationships" id="271" r:id="R35f19cbdcde54611"/>
    <p:sldId xmlns:r="http://schemas.openxmlformats.org/officeDocument/2006/relationships" id="272" r:id="R0e655b6d3d404aa4"/>
    <p:sldId xmlns:r="http://schemas.openxmlformats.org/officeDocument/2006/relationships" id="273" r:id="R4d9b66636ec84948"/>
    <p:sldId xmlns:r="http://schemas.openxmlformats.org/officeDocument/2006/relationships" id="274" r:id="R2e212681d72342d3"/>
    <p:sldId xmlns:r="http://schemas.openxmlformats.org/officeDocument/2006/relationships" id="275" r:id="R43eaf0bb92694b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358659a43a458d" /><Relationship Type="http://schemas.openxmlformats.org/officeDocument/2006/relationships/slideMaster" Target="/ppt/slideMasters/slideMaster1.xml" Id="R3d75b7815d104aeb" /><Relationship Type="http://schemas.openxmlformats.org/officeDocument/2006/relationships/notesMaster" Target="/ppt/notesMasters/notesMaster1.xml" Id="Ra15de1089848469e" /><Relationship Type="http://schemas.openxmlformats.org/officeDocument/2006/relationships/presProps" Target="/ppt/presProps.xml" Id="R57a7b3aaab4142c9" /><Relationship Type="http://schemas.openxmlformats.org/officeDocument/2006/relationships/tableStyles" Target="/ppt/tableStyles.xml" Id="Rcae064455675425d" /><Relationship Type="http://schemas.openxmlformats.org/officeDocument/2006/relationships/slide" Target="/ppt/slides/slide1.xml" Id="Rb658f60e0c6f4397" /><Relationship Type="http://schemas.openxmlformats.org/officeDocument/2006/relationships/slide" Target="/ppt/slides/slide2.xml" Id="R310e9e4605684d39" /><Relationship Type="http://schemas.openxmlformats.org/officeDocument/2006/relationships/slide" Target="/ppt/slides/slide3.xml" Id="R9fcc3d3c2eb34811" /><Relationship Type="http://schemas.openxmlformats.org/officeDocument/2006/relationships/slide" Target="/ppt/slides/slide4.xml" Id="R61494f928dd44422" /><Relationship Type="http://schemas.openxmlformats.org/officeDocument/2006/relationships/slide" Target="/ppt/slides/slide5.xml" Id="R7ff238e17a384bfc" /><Relationship Type="http://schemas.openxmlformats.org/officeDocument/2006/relationships/slide" Target="/ppt/slides/slide6.xml" Id="Re3b42c739d8945a5" /><Relationship Type="http://schemas.openxmlformats.org/officeDocument/2006/relationships/slide" Target="/ppt/slides/slide7.xml" Id="R9c98c5f1ecb84027" /><Relationship Type="http://schemas.openxmlformats.org/officeDocument/2006/relationships/slide" Target="/ppt/slides/slide8.xml" Id="Rcf14e6cfe16a4c97" /><Relationship Type="http://schemas.openxmlformats.org/officeDocument/2006/relationships/slide" Target="/ppt/slides/slide9.xml" Id="R51f59939fc2f4217" /><Relationship Type="http://schemas.openxmlformats.org/officeDocument/2006/relationships/slide" Target="/ppt/slides/slide10.xml" Id="R47d9b080a6e34328" /><Relationship Type="http://schemas.openxmlformats.org/officeDocument/2006/relationships/slide" Target="/ppt/slides/slide11.xml" Id="R6aa3877e20b14ac1" /><Relationship Type="http://schemas.openxmlformats.org/officeDocument/2006/relationships/slide" Target="/ppt/slides/slide12.xml" Id="R23a1dbad11ba49b4" /><Relationship Type="http://schemas.openxmlformats.org/officeDocument/2006/relationships/slide" Target="/ppt/slides/slide13.xml" Id="R6f014667a570471a" /><Relationship Type="http://schemas.openxmlformats.org/officeDocument/2006/relationships/slide" Target="/ppt/slides/slide14.xml" Id="Rd5ea4bfa95ac43c1" /><Relationship Type="http://schemas.openxmlformats.org/officeDocument/2006/relationships/slide" Target="/ppt/slides/slide15.xml" Id="R2b38fccaed56437f" /><Relationship Type="http://schemas.openxmlformats.org/officeDocument/2006/relationships/slide" Target="/ppt/slides/slide16.xml" Id="R35f19cbdcde54611" /><Relationship Type="http://schemas.openxmlformats.org/officeDocument/2006/relationships/slide" Target="/ppt/slides/slide17.xml" Id="R0e655b6d3d404aa4" /><Relationship Type="http://schemas.openxmlformats.org/officeDocument/2006/relationships/slide" Target="/ppt/slides/slide18.xml" Id="R4d9b66636ec84948" /><Relationship Type="http://schemas.openxmlformats.org/officeDocument/2006/relationships/slide" Target="/ppt/slides/slide19.xml" Id="R2e212681d72342d3" /><Relationship Type="http://schemas.openxmlformats.org/officeDocument/2006/relationships/slide" Target="/ppt/slides/slide20.xml" Id="R43eaf0bb92694b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3658755aa54f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90f2bae3df423f" /><Relationship Type="http://schemas.openxmlformats.org/officeDocument/2006/relationships/notesMaster" Target="/ppt/notesMasters/notesMaster1.xml" Id="Rbc193961ba4643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ee551293654f46" /><Relationship Type="http://schemas.openxmlformats.org/officeDocument/2006/relationships/notesMaster" Target="/ppt/notesMasters/notesMaster1.xml" Id="R92a0b0d649f24b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62566cd7e44b1c" /><Relationship Type="http://schemas.openxmlformats.org/officeDocument/2006/relationships/notesMaster" Target="/ppt/notesMasters/notesMaster1.xml" Id="Rc853e43191c14f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fddb66e09f4d43" /><Relationship Type="http://schemas.openxmlformats.org/officeDocument/2006/relationships/notesMaster" Target="/ppt/notesMasters/notesMaster1.xml" Id="Rd212935ed53349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e666e6e0de4b37" /><Relationship Type="http://schemas.openxmlformats.org/officeDocument/2006/relationships/notesMaster" Target="/ppt/notesMasters/notesMaster1.xml" Id="R5b8db71188b742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326032b5cb43e9" /><Relationship Type="http://schemas.openxmlformats.org/officeDocument/2006/relationships/notesMaster" Target="/ppt/notesMasters/notesMaster1.xml" Id="R0859646bb20847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a14dce79bb4e33" /><Relationship Type="http://schemas.openxmlformats.org/officeDocument/2006/relationships/notesMaster" Target="/ppt/notesMasters/notesMaster1.xml" Id="R0c2b933fcdff40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e8053abb77495c" /><Relationship Type="http://schemas.openxmlformats.org/officeDocument/2006/relationships/notesMaster" Target="/ppt/notesMasters/notesMaster1.xml" Id="R4ee856eddae941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ad662554d044e8" /><Relationship Type="http://schemas.openxmlformats.org/officeDocument/2006/relationships/notesMaster" Target="/ppt/notesMasters/notesMaster1.xml" Id="Rcfc98c51cde64e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a9e4bca97f4d26" /><Relationship Type="http://schemas.openxmlformats.org/officeDocument/2006/relationships/notesMaster" Target="/ppt/notesMasters/notesMaster1.xml" Id="R5b4984025be14f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1ff0a887c2432a" /><Relationship Type="http://schemas.openxmlformats.org/officeDocument/2006/relationships/notesMaster" Target="/ppt/notesMasters/notesMaster1.xml" Id="R83aa86b5480e4d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83c58e6bdb4e2d" /><Relationship Type="http://schemas.openxmlformats.org/officeDocument/2006/relationships/notesMaster" Target="/ppt/notesMasters/notesMaster1.xml" Id="Rcfcc4f7389e04b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32acd2fd7146a2" /><Relationship Type="http://schemas.openxmlformats.org/officeDocument/2006/relationships/notesMaster" Target="/ppt/notesMasters/notesMaster1.xml" Id="R50417a9d559842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152c0231a94787" /><Relationship Type="http://schemas.openxmlformats.org/officeDocument/2006/relationships/notesMaster" Target="/ppt/notesMasters/notesMaster1.xml" Id="R1b2203529c3c45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d1fc3eb712414a" /><Relationship Type="http://schemas.openxmlformats.org/officeDocument/2006/relationships/notesMaster" Target="/ppt/notesMasters/notesMaster1.xml" Id="R7c3b06eeca9842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a7b675f73d40c3" /><Relationship Type="http://schemas.openxmlformats.org/officeDocument/2006/relationships/notesMaster" Target="/ppt/notesMasters/notesMaster1.xml" Id="R0323e4d2a1de45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2fb5080c814136" /><Relationship Type="http://schemas.openxmlformats.org/officeDocument/2006/relationships/notesMaster" Target="/ppt/notesMasters/notesMaster1.xml" Id="R0b99c60ee9534a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54fa2ee39d4ddf" /><Relationship Type="http://schemas.openxmlformats.org/officeDocument/2006/relationships/notesMaster" Target="/ppt/notesMasters/notesMaster1.xml" Id="R597975d439a84b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7d10b13aa86470c" /><Relationship Type="http://schemas.openxmlformats.org/officeDocument/2006/relationships/notesMaster" Target="/ppt/notesMasters/notesMaster1.xml" Id="R5ab3f883a2b141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39eb6701534e51" /><Relationship Type="http://schemas.openxmlformats.org/officeDocument/2006/relationships/notesMaster" Target="/ppt/notesMasters/notesMaster1.xml" Id="Rcafb76a3fd3d41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43cbf96a744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48eb58a3948be" /><Relationship Type="http://schemas.openxmlformats.org/officeDocument/2006/relationships/slideLayout" Target="/ppt/slideLayouts/slideLayout1.xml" Id="Rc5c60559650c4e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c60559650c4e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4f484cdee4aab" /><Relationship Type="http://schemas.openxmlformats.org/officeDocument/2006/relationships/image" Target="/ppt/media/image.png" Id="R6afaa67b1c604142" /><Relationship Type="http://schemas.openxmlformats.org/officeDocument/2006/relationships/notesSlide" Target="/ppt/notesSlides/notesSlide1.xml" Id="R6961186c69614f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1abf3f0e941f9" /><Relationship Type="http://schemas.openxmlformats.org/officeDocument/2006/relationships/notesSlide" Target="/ppt/notesSlides/notesSlide2.xml" Id="Rc7fe6dc3a0ca48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630d125da4df3" /><Relationship Type="http://schemas.openxmlformats.org/officeDocument/2006/relationships/notesSlide" Target="/ppt/notesSlides/notesSlide3.xml" Id="R30456d6fe6c34b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11c4bf9f544f7" /><Relationship Type="http://schemas.openxmlformats.org/officeDocument/2006/relationships/notesSlide" Target="/ppt/notesSlides/notesSlide4.xml" Id="R20d27752c8ea4d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2653798ba4b0d" /><Relationship Type="http://schemas.openxmlformats.org/officeDocument/2006/relationships/notesSlide" Target="/ppt/notesSlides/notesSlide5.xml" Id="Rcae5fb378dcd48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22dd196854d5b" /><Relationship Type="http://schemas.openxmlformats.org/officeDocument/2006/relationships/notesSlide" Target="/ppt/notesSlides/notesSlide6.xml" Id="Rd7f7d107896f45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4b942ed334e39" /><Relationship Type="http://schemas.openxmlformats.org/officeDocument/2006/relationships/notesSlide" Target="/ppt/notesSlides/notesSlide7.xml" Id="R2e9b91da487445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e44f749bd46ea" /><Relationship Type="http://schemas.openxmlformats.org/officeDocument/2006/relationships/notesSlide" Target="/ppt/notesSlides/notesSlide8.xml" Id="R285e3c65c2a042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8d29dc26d40e9" /><Relationship Type="http://schemas.openxmlformats.org/officeDocument/2006/relationships/notesSlide" Target="/ppt/notesSlides/notesSlide9.xml" Id="R116fc7e923ee40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8293e7ffd4d28" /><Relationship Type="http://schemas.openxmlformats.org/officeDocument/2006/relationships/notesSlide" Target="/ppt/notesSlides/notesSlide10.xml" Id="Raaf2f75895cc46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b1e57c8754523" /><Relationship Type="http://schemas.openxmlformats.org/officeDocument/2006/relationships/notesSlide" Target="/ppt/notesSlides/notesSlide11.xml" Id="Rb92b2fe237a947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d8a29b7d14e17" /><Relationship Type="http://schemas.openxmlformats.org/officeDocument/2006/relationships/notesSlide" Target="/ppt/notesSlides/notesSlide12.xml" Id="R7c7a549d612c4f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dba2183204690" /><Relationship Type="http://schemas.openxmlformats.org/officeDocument/2006/relationships/notesSlide" Target="/ppt/notesSlides/notesSlide13.xml" Id="Rda271ef75f7442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bc4b7272b4540" /><Relationship Type="http://schemas.openxmlformats.org/officeDocument/2006/relationships/notesSlide" Target="/ppt/notesSlides/notesSlide14.xml" Id="R5643e2cafe3345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816cb5a37425c" /><Relationship Type="http://schemas.openxmlformats.org/officeDocument/2006/relationships/notesSlide" Target="/ppt/notesSlides/notesSlide15.xml" Id="Rcf31349abf6a49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3d5a231c8427d" /><Relationship Type="http://schemas.openxmlformats.org/officeDocument/2006/relationships/notesSlide" Target="/ppt/notesSlides/notesSlide16.xml" Id="R78e952a6412d4d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77d7230bf481a" /><Relationship Type="http://schemas.openxmlformats.org/officeDocument/2006/relationships/notesSlide" Target="/ppt/notesSlides/notesSlide17.xml" Id="R8d247012652b49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34c8c886143ab" /><Relationship Type="http://schemas.openxmlformats.org/officeDocument/2006/relationships/notesSlide" Target="/ppt/notesSlides/notesSlide18.xml" Id="R10a89bf961884d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1b8f4df6b4bc4" /><Relationship Type="http://schemas.openxmlformats.org/officeDocument/2006/relationships/notesSlide" Target="/ppt/notesSlides/notesSlide19.xml" Id="R804b8573843246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c128488cb407e" /><Relationship Type="http://schemas.openxmlformats.org/officeDocument/2006/relationships/notesSlide" Target="/ppt/notesSlides/notesSlide20.xml" Id="Rbd9e906f59ea41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aa67b1c60414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77B55-4CD3-4C7E-B686-FCF59EAA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52173-DCB1-4D2F-B22B-E2C341BD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D9"/>
          </a:solidFill>
          <a:ln xmlns:a="http://schemas.openxmlformats.org/drawingml/2006/main" w="0">
            <a:solidFill>
              <a:srgbClr val="20C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58F67-660E-4DFB-A978-36180D40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AVR ASSEMBLY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D854C-1E6B-44D8-8EA5-FCE96BFC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335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 i="0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3450" b="1" i="0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Simple student guide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 i="0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3450" b="1" i="0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for SimulIDE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5945F-E990-4656-A530-DCD91540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D6EAF2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D6EAF2"/>
                </a:solidFill>
                <a:latin typeface="Noto Sans"/>
                <a:ea typeface="Noto Sans"/>
                <a:cs typeface="Noto Sans"/>
              </a:rPr>
              <a:t>ATmega328P  /  AVRA-compatible assembly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D6EAF2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D6EAF2"/>
                </a:solidFill>
                <a:latin typeface="Noto Sans"/>
                <a:ea typeface="Noto Sans"/>
                <a:cs typeface="Noto Sans"/>
              </a:rPr>
              <a:t>7 experiments from GPIO to ADC, PWM and interrupts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59575-7CF8-4DD3-8521-7349B309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490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C71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87006-ACB4-4B18-8C59-5ED095F4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2B84B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F2B84B"/>
                </a:solidFill>
                <a:latin typeface="Noto Sans"/>
                <a:ea typeface="Noto Sans"/>
                <a:cs typeface="Noto Sans"/>
              </a:rPr>
              <a:t>Student edition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244C7-8E9D-4389-94C8-A4D2CA99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B8CBD6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B8CBD6"/>
                </a:solidFill>
                <a:latin typeface="Noto Sans"/>
                <a:ea typeface="Noto Sans"/>
                <a:cs typeface="Noto Sans"/>
              </a:rPr>
              <a:t>Follow the 7 experiments in order. Modify hardware, run and observe.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6FA16-9DF9-4040-BC6A-5F9D0970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2103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9DB9C8"/>
                </a:solidFill>
                <a:latin typeface="Noto Sans"/>
                <a:ea typeface="Noto Sans"/>
                <a:cs typeface="Noto Sans"/>
              </a:defRPr>
            </a:pPr>
            <a:r>
              <a:rPr sz="1050" b="1" i="0">
                <a:solidFill>
                  <a:srgbClr val="9DB9C8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A383B-ECA3-407D-9340-80AF6365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2103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9DB9C8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9DB9C8"/>
                </a:solidFill>
                <a:latin typeface="Noto Sans"/>
                <a:ea typeface="Noto Sans"/>
                <a:cs typeface="Noto Sans"/>
              </a:rPr>
              <a:t>SIMULIDE + AVR ASSEMBLY</a:t>
            </a:r>
          </a:p>
        </p:txBody>
      </p:sp>
    </p:spTree>
    <p:extLst>
      <p:ext uri="{BB962C8B-B14F-4D97-AF65-F5344CB8AC3E}">
        <p14:creationId xmlns:p14="http://schemas.microsoft.com/office/powerpoint/2010/main" val="11604417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289496-4E21-48F3-88AE-9A179584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D9"/>
          </a:solidFill>
          <a:ln xmlns:a="http://schemas.openxmlformats.org/drawingml/2006/main" w="0">
            <a:solidFill>
              <a:srgbClr val="20C7D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FD3B9-06E0-4019-BB73-70763543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AVR ASSEMBLY LAB  /  SIMULIDE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3F276-B7CE-4538-BA9E-660FD219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How to use this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C313A-6FD5-438D-B6D5-D1E6C705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5B2D5-223A-49EE-886C-199AA901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Each experiment ends with an observable change in a register, pin or 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A0097-2F80-4033-A969-4905C8F8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WHAT YOU WILL PRACTISE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03F56-8AEA-4AC7-971D-92A5DF76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095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2000"/>
              </a:lnSpc>
              <a:spcAft>
                <a:spcPts val="1100"/>
              </a:spcAft>
              <a:buNone/>
              <a:defRPr sz="142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Build and run AVRA-compatible .asm programs in SimulIDE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1100"/>
              </a:spcAft>
              <a:buNone/>
              <a:defRPr sz="142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Trace an instruction through a register, an I/O pin and a component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1100"/>
              </a:spcAft>
              <a:buNone/>
              <a:defRPr sz="142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Progress from GPIO output to timer PWM, ADC and interrupts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1100"/>
              </a:spcAft>
              <a:buNone/>
              <a:defRPr sz="142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Leave with a reusable circuit and a working integrated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9EA9C-1859-4C3B-841D-345BC27B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095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5127D-A753-429A-9C51-15723106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Working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10267-76CD-4465-A782-29144A53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425" b="1" i="0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Change one line at a time. Predict the result, then run 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DC66A-70F0-40C4-B930-9C1A6740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rPr>
              <a:t>USE THIS CYCLE FOR EVERY EXPERIMENT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1EED9-7892-44E0-90D2-07B7BE83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4953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AFE81-0B43-438B-B975-173CB66C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47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D9"/>
          </a:solidFill>
          <a:ln xmlns:a="http://schemas.openxmlformats.org/drawingml/2006/main" w="0">
            <a:solidFill>
              <a:srgbClr val="20C7D9"/>
            </a:solidFill>
            <a:prstDash val="solid"/>
          </a:ln>
        </p:spPr>
        <p:txBody>
          <a:bodyPr xmlns:a="http://schemas.openxmlformats.org/drawingml/2006/main" anchor="ctr">
            <a:normAutofit fontScale="5996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D9659-1FAB-4162-BA82-096DDA41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E203F-11FC-4849-93D8-454F62E2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14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objective and circuit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87C22-44C6-4F44-A93C-71BBB803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95575"/>
            <a:ext cx="4953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7E482-F1BF-4B42-B5DD-97138A79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90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D9"/>
          </a:solidFill>
          <a:ln xmlns:a="http://schemas.openxmlformats.org/drawingml/2006/main" w="0">
            <a:solidFill>
              <a:srgbClr val="20C7D9"/>
            </a:solidFill>
            <a:prstDash val="solid"/>
          </a:ln>
        </p:spPr>
        <p:txBody>
          <a:bodyPr xmlns:a="http://schemas.openxmlformats.org/drawingml/2006/main" anchor="ctr">
            <a:normAutofit fontScale="5996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EDB86-FB4E-45AD-A8C9-BC29801B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0B654-62D5-46D8-95BC-B921EF6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assembly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14489-F857-4DC8-9D36-EC4FE172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38525"/>
            <a:ext cx="4953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AC5F5-7E27-465F-8E60-8F0740FC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33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>
          <a:bodyPr xmlns:a="http://schemas.openxmlformats.org/drawingml/2006/main" anchor="ctr">
            <a:normAutofit fontScale="5996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F56F8-4B4C-4D10-8129-E72D56F7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9551B3-3D76-4F9B-9D1B-FDC0213A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in SimulIDE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1A977-52E2-42DC-84C3-DCDBDA03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81475"/>
            <a:ext cx="4953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6D450-246D-45F9-95B1-1601F79D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76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>
          <a:bodyPr xmlns:a="http://schemas.openxmlformats.org/drawingml/2006/main" anchor="ctr">
            <a:normAutofit fontScale="5996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616CC-BBE2-4D5A-884B-977D6302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Observe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D4DB2E-F74A-40BD-BC1E-2E54DB51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43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LED, register or scope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AB0025-CE85-4A7E-B529-73E98D4D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24425"/>
            <a:ext cx="4953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BEB3E8-8C51-42B9-B272-7F8F3BC2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9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>
          <a:bodyPr xmlns:a="http://schemas.openxmlformats.org/drawingml/2006/main" anchor="ctr">
            <a:normAutofit fontScale="59965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1CD495-396C-4FCE-8027-011E244B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Record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1FFDB5-E504-4CD0-93A2-587442DD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86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one changed value</a:t>
            </a:r>
          </a:p>
        </p:txBody>
      </p:sp>
      <p:cxnSp>
        <p:nvCxnSpPr>
          <p:cNvPr id="70" name=""/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096250" y="25050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C7D9"/>
            </a:solidFill>
            <a:prstDash val="solid"/>
            <a:head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096250" y="32480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C7D9"/>
            </a:solidFill>
            <a:prstDash val="solid"/>
            <a:head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20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096250" y="39909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C7D9"/>
            </a:solidFill>
            <a:prstDash val="solid"/>
            <a:head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4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096250" y="47339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0C7D9"/>
            </a:solidFill>
            <a:prstDash val="solid"/>
            <a:head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2BCA0B-D19E-4608-B433-8361CACD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AAC56B-B6F9-463A-8BB4-87024944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ATmega328P  /  AVRA-compatible assembly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DEFE42-6A9E-4E48-B527-0E037340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3236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1DCAC-F295-4CF5-95BB-C37B95E6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BCAA9-EDC3-40D0-AC96-09332791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AVR ASSEMBLY LAB  /  SIMULIDE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B8C51-92D5-4AF5-92A7-A911C488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Hardware changes by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35A03-7744-4F59-9AE6-BD19BBF8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8E23B-4A49-45B9-AA36-FD9C2789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Build the basic circuit first. For each step, add or move only the part shown here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5524500"/>
                <a:gridCol w="3819525"/>
              </a:tblGrid>
              <a:tr h="4429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9FBFD"/>
                          </a:solidFill>
                          <a:latin typeface="Noto Sans"/>
                          <a:ea typeface="Noto Sans"/>
                          <a:cs typeface="Noto Sans"/>
                        </a:rPr>
                        <a:t>Experiment</a:t>
                      </a:r>
                    </a:p>
                  </a:txBody>
                  <a:tcPr marL="91440" marR="91440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9FBFD"/>
                          </a:solidFill>
                          <a:latin typeface="Noto Sans"/>
                          <a:ea typeface="Noto Sans"/>
                          <a:cs typeface="Noto Sans"/>
                        </a:rPr>
                        <a:t>Hardware modification</a:t>
                      </a:r>
                    </a:p>
                  </a:txBody>
                  <a:tcPr marL="91440" marR="91440" marT="45720" marB="45720" anchor="ctr">
                    <a:solidFill>
                      <a:srgbClr val="0B12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9FBFD"/>
                          </a:solidFill>
                          <a:latin typeface="Noto Sans"/>
                          <a:ea typeface="Noto Sans"/>
                          <a:cs typeface="Noto Sans"/>
                        </a:rPr>
                        <a:t>What you should see</a:t>
                      </a:r>
                    </a:p>
                  </a:txBody>
                  <a:tcPr marL="91440" marR="91440" marT="45720" marB="45720" anchor="ctr">
                    <a:solidFill>
                      <a:srgbClr val="0B1220"/>
                    </a:solidFill>
                  </a:tcPr>
                </a:tc>
              </a:tr>
              <a:tr h="4429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9FB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Add LED and 330 Ω resistor: PB0 → resistor → LED → GND</a:t>
                      </a:r>
                    </a:p>
                  </a:txBody>
                  <a:tcPr marL="91440" marR="91440" marT="45720" marB="45720" anchor="ctr">
                    <a:solidFill>
                      <a:srgbClr val="F9FB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PB0 turns the LED on and off</a:t>
                      </a:r>
                    </a:p>
                  </a:txBody>
                  <a:tcPr marL="91440" marR="91440" marT="45720" marB="45720" anchor="ctr">
                    <a:solidFill>
                      <a:srgbClr val="F9FBFD"/>
                    </a:solidFill>
                  </a:tcPr>
                </a:tc>
              </a:tr>
              <a:tr h="4429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No change. Keep the PB0 LED circuit.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The same LED blinks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4429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9FB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Add push button: PD2 → button → GND</a:t>
                      </a:r>
                    </a:p>
                  </a:txBody>
                  <a:tcPr marL="91440" marR="91440" marT="45720" marB="45720" anchor="ctr">
                    <a:solidFill>
                      <a:srgbClr val="F9FB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Button controls the PB0 LED</a:t>
                      </a:r>
                    </a:p>
                  </a:txBody>
                  <a:tcPr marL="91440" marR="91440" marT="45720" marB="45720" anchor="ctr">
                    <a:solidFill>
                      <a:srgbClr val="F9FBFD"/>
                    </a:solidFill>
                  </a:tcPr>
                </a:tc>
              </a:tr>
              <a:tr h="4429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Add LEDs and resistors at PB1, PB2 and PB3. Keep PB0.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One lit LED moves across PB0 to PB3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4429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9FB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Move or add PWM LED at PD6 / OC0A. Attach scope to PD6.</a:t>
                      </a:r>
                    </a:p>
                  </a:txBody>
                  <a:tcPr marL="91440" marR="91440" marT="45720" marB="45720" anchor="ctr">
                    <a:solidFill>
                      <a:srgbClr val="F9FB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Brightness and waveform change</a:t>
                      </a:r>
                    </a:p>
                  </a:txBody>
                  <a:tcPr marL="91440" marR="91440" marT="45720" marB="45720" anchor="ctr">
                    <a:solidFill>
                      <a:srgbClr val="F9FBFD"/>
                    </a:solidFill>
                  </a:tcPr>
                </a:tc>
              </a:tr>
              <a:tr h="4429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Add potentiometer. Ends: +5 V and GND. Wiper: PC0 / ADC0. Keep PD6 LED.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Pot position changes brightness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4429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DCF8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Keep potentiometer and PD6 LED. Add button: PD2 / INT0 → GND.</a:t>
                      </a:r>
                    </a:p>
                  </a:txBody>
                  <a:tcPr marL="91440" marR="91440" marT="45720" marB="45720" anchor="ctr">
                    <a:solidFill>
                      <a:srgbClr val="DCF8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Noto Sans"/>
                          <a:ea typeface="Noto Sans"/>
                          <a:cs typeface="Noto Sans"/>
                        </a:rPr>
                        <a:t>Button toggles the ADC-to-PWM system</a:t>
                      </a:r>
                    </a:p>
                  </a:txBody>
                  <a:tcPr marL="91440" marR="91440" marT="45720" marB="45720" anchor="ctr">
                    <a:solidFill>
                      <a:srgbClr val="DCF8EE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61BA2-A3E0-4509-886B-8377E4C0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07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Keep one common ground. Reuse the existing circuit unless this table tells you to add or move a part.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685EB-2E22-4BF5-BC1B-5088DECE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39840-C1C5-4D90-90E6-02C8C02C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Hardware changes for the seven experiments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A677E-A1F1-49F7-B36F-344EFD57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80385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8E7329-48D1-4A66-B2B0-A9FF5825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95"/>
          </a:solidFill>
          <a:ln xmlns:a="http://schemas.openxmlformats.org/drawingml/2006/main" w="0">
            <a:solidFill>
              <a:srgbClr val="35C7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9ABB0-3801-451B-B20B-01B5582B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AVR ASSEMBLY LAB  /  SIMULIDE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D2A50-D1EB-4479-AAF7-EB73EADC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Before the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00157-BB2A-4EF6-B52D-142B465B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C4DE3-0D95-4528-A1DB-9BCF2690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Use the provided tools and keep each experiment in its own project folder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46EB4-0EDC-4D5D-ABE5-1E9A6945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35C795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35C795"/>
                </a:solidFill>
                <a:latin typeface="Noto Sans"/>
                <a:ea typeface="Noto Sans"/>
                <a:cs typeface="Noto Sans"/>
              </a:rPr>
              <a:t>WHAT YOU NEED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C291D-9CEA-4A65-8FBD-0BCCCFD2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428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0B12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CEAEA-A0C7-4E7C-AA27-9B8C3E7B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Lab PC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304F0-1D2A-4981-BBD6-D26EDE2B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 i="0">
                <a:solidFill>
                  <a:srgbClr val="B5CED9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B5CED9"/>
                </a:solidFill>
                <a:latin typeface="Noto Sans"/>
                <a:ea typeface="Noto Sans"/>
                <a:cs typeface="Noto Sans"/>
              </a:rPr>
              <a:t>course 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4FD89-16ED-4D16-AD24-374CCFB0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52625"/>
            <a:ext cx="1428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20C7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C842E-0280-43D7-B783-E7B50AC1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14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SimulIDE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D41BD-D4B5-4E07-9F2F-7BAD9221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479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circuit + debugger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30262-9F9B-4D75-8B75-670645C4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52625"/>
            <a:ext cx="1428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4A103-5789-46DC-B816-2575CDC2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AVRA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7A4A0-939C-4453-B11B-8309A9AA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.asm to .hex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52BFE-EC2D-4FD1-BA7A-F3C6693B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52625"/>
            <a:ext cx="1428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35C79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3EC4E-51D5-454D-8668-39D41E2F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14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ATmega328P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1B9F1-4A30-47CB-BC42-8711C67C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479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same device each time</a:t>
            </a:r>
          </a:p>
        </p:txBody>
      </p: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14550" y="23907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17284"/>
            </a:solidFill>
            <a:prstDash val="solid"/>
            <a:head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752850" y="23907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17284"/>
            </a:solidFill>
            <a:prstDash val="solid"/>
            <a:head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391150" y="23907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17284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F4A93-D50F-4FD3-9BDC-2AA1D0C1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810125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0E1C2D"/>
          </a:solidFill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F2538-04E9-4F8D-9B89-35BAFC6A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467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YOUR PROJECT FOLDER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8332C-ED3F-44FC-B245-D27C6C1F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46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86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84CBDD-2144-43F9-BD36-431D5BCC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43325"/>
            <a:ext cx="44672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project/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exp01_led.asm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exp01_led.hex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avr_lab.sim1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# assemble your source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avra exp01_led.asm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# load the .hex in SimulIDE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37DE51-A0E4-484A-B55B-9ABF2A61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956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YOUR LAB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F7717F-9CD7-4C9C-9F69-C78332E9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57600"/>
            <a:ext cx="457200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B2253F-7551-436E-B13A-E773ED48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05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Write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337B3F-B8FA-4988-9C98-F46296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052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assembly source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C9F88C-FC6A-4876-9F72-61591791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433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5C79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FF479A-5AF9-4775-ABCD-776BA761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57650"/>
            <a:ext cx="457200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530395-6343-4C6B-8733-2BECF940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052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05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Assemble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7CDDF6-5AA7-4B4D-9EB3-25B8F3ED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052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AVRA creates .hex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E08E2F-6B1A-4659-B178-968B7957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434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5C79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244516-85B3-48CC-8C5C-873E65FA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57700"/>
            <a:ext cx="457200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D1CAAB-24FA-404B-B822-615597A3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05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05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Load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168B57-0BF5-4D00-8943-62F8812A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053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firmware in SimulIDE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BE541D-6222-4864-BD9D-8BC575CD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434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5C79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DA2F29-DFEB-4ED2-8030-A1C5E951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57750"/>
            <a:ext cx="457200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678D8C-7AE1-463E-8394-032CC42B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05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Observe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91DAE5-D3F4-4146-8CC5-D2345E90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05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circuit, registers, scope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7206D-89CA-4AED-9B19-6A8E6101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5C79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4ABEBB-ACE9-4F2E-8D1B-353B3516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57800"/>
            <a:ext cx="457200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0C97C5-B2B7-4F0E-AD29-8F5923D6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054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05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Change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5B913B-8906-4666-BAA7-203A20BD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054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one line or one value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E6F898-3380-4B64-BBFE-A3292847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772150"/>
            <a:ext cx="4572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F8EE"/>
          </a:solidFill>
          <a:ln xmlns:a="http://schemas.openxmlformats.org/drawingml/2006/main" w="9525">
            <a:solidFill>
              <a:srgbClr val="35C795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736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Keep one copy of your working .asm and .hex files before starting the next experiment.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B91384-87FE-4F50-B892-C4E11CEC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090C0F-0DCF-493E-8CC8-EE17612D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Student setup  /  source → .hex → SimulIDE circuit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2CCDAE-4FF5-48C0-B4E0-C241469D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3502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D60B80-8965-41AD-A40A-76D5BEC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D9"/>
          </a:solidFill>
          <a:ln xmlns:a="http://schemas.openxmlformats.org/drawingml/2006/main" w="0">
            <a:solidFill>
              <a:srgbClr val="20C7D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6D343-8D7E-4F38-8462-27DCDAE1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AVR ASSEMBLY LAB  /  SIMULIDE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91278-AFE9-409C-B419-7587E99C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Reusable SimulIDE 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DD303-F8CE-4EC6-BF98-AA164D1D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EDE8C-939B-4788-97B5-1B03BBDE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Keep the MCU and instruments in place. Add capability by changing code and connecting only the needed 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D45B4-9BF1-477F-831D-8BD3E3EC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30480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20C7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B0CD2-BC70-40D1-AEE6-05747A76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 i="0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2175" b="1" i="0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ATmega328P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AC974-9A3B-4EB5-972E-E8B569E7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B6CBD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B6CBD4"/>
                </a:solidFill>
                <a:latin typeface="Noto Sans"/>
                <a:ea typeface="Noto Sans"/>
                <a:cs typeface="Noto Sans"/>
              </a:rPr>
              <a:t>one MCU for every experiment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6ACB4-9E36-42B5-9AFE-C2350A9E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575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4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3EF0D-301F-4537-B809-B1F58F3D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195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single-step  /  breakpoints  /  registers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968F7-AC82-4BA7-9C0F-7D2C12EC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6860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F46B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AFD29-539F-497F-AC48-FE67C313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4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Push button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D8275-B504-4231-848F-6887D28F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46B5B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F46B5B"/>
                </a:solidFill>
                <a:latin typeface="Noto Sans"/>
                <a:ea typeface="Noto Sans"/>
                <a:cs typeface="Noto Sans"/>
              </a:rPr>
              <a:t>PD2 / INT0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23871-0F06-403A-AAF3-8377429F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6860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B3189-C151-445C-BBB2-D7E90362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4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Potentiometer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B74AC-AF0A-4C6A-A58B-D13508B0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2B84B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F2B84B"/>
                </a:solidFill>
                <a:latin typeface="Noto Sans"/>
                <a:ea typeface="Noto Sans"/>
                <a:cs typeface="Noto Sans"/>
              </a:rPr>
              <a:t>PC0 / ADC0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7173F-55FE-40DE-8DB4-60875FEB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52600"/>
            <a:ext cx="26860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35C79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AFCA7-AF4F-44D0-BC73-E702950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0500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4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Status 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01EC8-C6C3-4015-BDB0-2C096FC9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98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5C795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35C795"/>
                </a:solidFill>
                <a:latin typeface="Noto Sans"/>
                <a:ea typeface="Noto Sans"/>
                <a:cs typeface="Noto Sans"/>
              </a:rPr>
              <a:t>PB0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40BF8-B44F-4C6C-88EB-A7CE9DC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26860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E9CBA4-764B-4A2F-A8C5-F153EE05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194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4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Running LEDs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BB7D26-2856-413D-81DB-2A59193D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8B7CFF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8B7CFF"/>
                </a:solidFill>
                <a:latin typeface="Noto Sans"/>
                <a:ea typeface="Noto Sans"/>
                <a:cs typeface="Noto Sans"/>
              </a:rPr>
              <a:t>PB0–PB3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F29C9-0295-413C-915A-01CBA70C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81500"/>
            <a:ext cx="26860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20C7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7666C-D912-43AD-9B1F-EA1A0A4F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3390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4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PWM LED +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056FFB-F6E8-44B4-A9A6-E05C1D4D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387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PD6 / OC0A</a:t>
            </a:r>
          </a:p>
        </p:txBody>
      </p: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71850" y="2457450"/>
            <a:ext cx="11430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F46B5B"/>
            </a:solidFill>
            <a:prstDash val="solid"/>
            <a:headEnd type="none" w="med" len="med"/>
          </a:ln>
        </p:spPr>
      </p:cxnSp>
      <p:cxnSp>
        <p:nvCxnSpPr>
          <p:cNvPr id="63" name=""/>
          <p:cNvCxnSpPr>
            <a:stCxn xmlns:a="http://schemas.openxmlformats.org/drawingml/2006/main" id="1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71850" y="3105150"/>
            <a:ext cx="114300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F46B5B"/>
            </a:solidFill>
            <a:prstDash val="solid"/>
            <a:headEnd type="none" w="med" len="med"/>
          </a:ln>
        </p:spPr>
      </p:cxnSp>
      <p:cxnSp>
        <p:nvCxnSpPr>
          <p:cNvPr id="64" name=""/>
          <p:cNvCxnSpPr>
            <a:stCxn xmlns:a="http://schemas.openxmlformats.org/drawingml/2006/main" id="1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562850" y="2171700"/>
            <a:ext cx="125730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C7D9"/>
            </a:solidFill>
            <a:prstDash val="solid"/>
            <a:headEnd type="none" w="med" len="med"/>
          </a:ln>
        </p:spPr>
      </p:cxnSp>
      <p:cxnSp>
        <p:nvCxnSpPr>
          <p:cNvPr id="65" name=""/>
          <p:cNvCxnSpPr>
            <a:stCxn xmlns:a="http://schemas.openxmlformats.org/drawingml/2006/main" id="2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562850" y="3105150"/>
            <a:ext cx="12573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C7D9"/>
            </a:solidFill>
            <a:prstDash val="solid"/>
            <a:headEnd type="none" w="med" len="med"/>
          </a:ln>
        </p:spPr>
      </p:cxnSp>
      <p:cxnSp>
        <p:nvCxnSpPr>
          <p:cNvPr id="66" name=""/>
          <p:cNvCxnSpPr>
            <a:stCxn xmlns:a="http://schemas.openxmlformats.org/drawingml/2006/main" id="2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562850" y="3105150"/>
            <a:ext cx="1257300" cy="16954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0C7D9"/>
            </a:solidFill>
            <a:prstDash val="solid"/>
            <a:headEnd type="non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848F2F-6D00-429C-93DA-46145658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24400"/>
            <a:ext cx="54483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DDF8FB"/>
          </a:solidFill>
          <a:ln xmlns:a="http://schemas.openxmlformats.org/drawingml/2006/main" w="9525">
            <a:solidFill>
              <a:srgbClr val="20C7D9"/>
            </a:solidFill>
            <a:prstDash val="solid"/>
          </a:ln>
        </p:spPr>
        <p:txBody>
          <a:bodyPr xmlns:a="http://schemas.openxmlformats.org/drawingml/2006/main" wrap="square" lIns="152400" tIns="95250" rIns="152400" bIns="95250" anchor="ctr">
            <a:normAutofit fontScale="761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Common ground and supply stay consistent across all experiments.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19AFCA-8DE5-45CC-A50B-2ECE7EBC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Use the same circuit across the experiments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4DE323-28B4-4157-9AFC-F8B90A77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4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GPIO output  →  input  →  pattern  →  PWM  →  ADC  →  interrupt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327009-4A0B-4A83-A3F0-9A964EAC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A73964-7890-4136-A606-F0FA737A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Pin map used by the seven experiments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CF2495-5A6E-4BAD-9F97-08C60B36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12317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49579E-F39D-4C3B-9B49-6C9F2AB1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64617-DF06-47D9-9D76-9FE0529A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AVR ASSEMBLY LAB  /  SIMULIDE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6D96A-496E-42F1-B93F-EAFF647D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The assembly-to-hardware mental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B62E3-FE0C-4694-BAAA-8489FFA5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4EF88-B8A9-4CE9-99D9-81AE1C74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Make every register write visible before introducing the next peripheral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CCC86-1946-4467-BBE4-CEDE6450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20C7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4291C-235F-43EB-9A19-218D4DBA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1800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DDRx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C7CA3-2FA2-460A-9F52-305F07AF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Direction register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 means output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0 means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FF040-39B6-4A60-A163-FA4A303D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82065-0FF0-4957-B23D-CBD625A1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2B84B"/>
                </a:solidFill>
                <a:latin typeface="Noto Sans"/>
                <a:ea typeface="Noto Sans"/>
                <a:cs typeface="Noto Sans"/>
              </a:defRPr>
            </a:pPr>
            <a:r>
              <a:rPr sz="1800" b="1" i="0">
                <a:solidFill>
                  <a:srgbClr val="F2B84B"/>
                </a:solidFill>
                <a:latin typeface="Noto Sans"/>
                <a:ea typeface="Noto Sans"/>
                <a:cs typeface="Noto Sans"/>
              </a:rPr>
              <a:t>PORTx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449A6-64F3-42D4-B7B9-E308CFE9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2410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Output value when driving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Pull-up enable when reading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E641A-7D00-4645-A840-08FAB40E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F46B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D21C3-E66B-4F60-9790-826772BF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46B5B"/>
                </a:solidFill>
                <a:latin typeface="Noto Sans"/>
                <a:ea typeface="Noto Sans"/>
                <a:cs typeface="Noto Sans"/>
              </a:defRPr>
            </a:pPr>
            <a:r>
              <a:rPr sz="1800" b="1" i="0">
                <a:solidFill>
                  <a:srgbClr val="F46B5B"/>
                </a:solidFill>
                <a:latin typeface="Noto Sans"/>
                <a:ea typeface="Noto Sans"/>
                <a:cs typeface="Noto Sans"/>
              </a:rPr>
              <a:t>PINx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B2957-33AF-4DB6-B173-C8777662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Read the physical pin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Use for button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2F15F-305A-41B1-9FF9-B40BC0D8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5908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35C79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560AD-7590-4ABC-8251-1835AEE3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621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35C795"/>
                </a:solidFill>
                <a:latin typeface="Noto Sans"/>
                <a:ea typeface="Noto Sans"/>
                <a:cs typeface="Noto Sans"/>
              </a:defRPr>
            </a:pPr>
            <a:r>
              <a:rPr sz="1800" b="1" i="0">
                <a:solidFill>
                  <a:srgbClr val="35C795"/>
                </a:solidFill>
                <a:latin typeface="Noto Sans"/>
                <a:ea typeface="Noto Sans"/>
                <a:cs typeface="Noto Sans"/>
              </a:rPr>
              <a:t>Peripheral regs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A88D1-E68D-464E-9A35-ACB7055B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2247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Timer, ADC and interrupt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configuration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C204B-B7CD-4B13-BCEE-74663D26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286000" cy="990600"/>
          </a:xfrm>
          <a:prstGeom xmlns:a="http://schemas.openxmlformats.org/drawingml/2006/main" prst="roundRect">
            <a:avLst>
              <a:gd name="adj" fmla="val 1634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0B122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9220B-7761-4E1D-9F22-32D6FFA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Instruction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066E1-3476-4B4B-9727-46969DB6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B6CBD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B6CBD4"/>
                </a:solidFill>
                <a:latin typeface="Noto Sans"/>
                <a:ea typeface="Noto Sans"/>
                <a:cs typeface="Noto Sans"/>
              </a:rPr>
              <a:t>SBI / CBI / 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ADE6F4-92C0-4C56-B6AC-C24F387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19550"/>
            <a:ext cx="2286000" cy="990600"/>
          </a:xfrm>
          <a:prstGeom xmlns:a="http://schemas.openxmlformats.org/drawingml/2006/main" prst="roundRect">
            <a:avLst>
              <a:gd name="adj" fmla="val 16346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20C7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85B2AA-97FB-4986-AD54-4C0929BF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00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Register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8932A9-26C7-4EF3-B4A3-1FF14E56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529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DDRB / PORTB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0CF13-A3FC-483E-A8F3-7C43A614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19550"/>
            <a:ext cx="2286000" cy="990600"/>
          </a:xfrm>
          <a:prstGeom xmlns:a="http://schemas.openxmlformats.org/drawingml/2006/main" prst="roundRect">
            <a:avLst>
              <a:gd name="adj" fmla="val 16346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9FD6D4-2286-4DA5-9C9A-844F400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726B8-5709-489C-BF3F-891EEDC5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PB0 goes HIGH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4AE5D7-356E-48C4-B0E3-DBB8F9C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9550"/>
            <a:ext cx="2286000" cy="990600"/>
          </a:xfrm>
          <a:prstGeom xmlns:a="http://schemas.openxmlformats.org/drawingml/2006/main" prst="roundRect">
            <a:avLst>
              <a:gd name="adj" fmla="val 16346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35C79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EAB97A-080A-4FEF-BBB2-B334C3F6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100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Component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63BBC7-23EE-49F5-AA35-D0DAE017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529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LED changes</a:t>
            </a:r>
          </a:p>
        </p:txBody>
      </p:sp>
      <p:cxnSp>
        <p:nvCxnSpPr>
          <p:cNvPr id="66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971800" y="4514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7CFF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695950" y="4514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7CFF"/>
            </a:solidFill>
            <a:prstDash val="solid"/>
            <a:head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8420100" y="45148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7CFF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2D584C-3593-425A-ABA2-46298ED0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05450"/>
            <a:ext cx="80010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EAE7FF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626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Single-step example: LDI R16, 0x01  then  OUT PORTB, R16  then  watch PB0.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3EB580-6DE7-4087-8BD5-C2D1B928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93B96F-5D3C-44E9-998C-FBE2935C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Core register model before timers and ADC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5951E4-5EF5-4B13-9419-F90585C2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6888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64EA38-2F32-417E-A1DA-A7C7268A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D9"/>
          </a:solidFill>
          <a:ln xmlns:a="http://schemas.openxmlformats.org/drawingml/2006/main" w="0">
            <a:solidFill>
              <a:srgbClr val="20C7D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844EB-D7F5-40F3-8000-5FE7A132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01  /  AVR ASSEMBLY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E4E13-55FE-4C4C-9940-948C631A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Experiment 1  /  LED ON/OFF using GPIO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167E7-B636-46AA-BAD5-A5134291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DBD27-AB02-466A-ADFD-F9E350C5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The first visible result: make one pin an output and drive it high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5A6DE-98C2-4F99-A4E2-BAE1AD18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OBJECTIVE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54C96-5E1B-48BA-ACD1-AAF6DC2D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2000"/>
              </a:lnSpc>
              <a:spcAft>
                <a:spcPts val="1000"/>
              </a:spcAft>
              <a:buNone/>
              <a:defRPr sz="1350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Configure PB0 as an output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1000"/>
              </a:spcAft>
              <a:buNone/>
              <a:defRPr sz="1350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Set PORTB bit 0 high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1000"/>
              </a:spcAft>
              <a:buNone/>
              <a:defRPr sz="1350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Single-step and watch the LED turn 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786F1-B881-4DF2-98E7-8EBC4040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rPr>
              <a:t>CIRCUIT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69C7B-BCC1-41B6-A9EF-203C1451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952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86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PB0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02190-17E1-4C4F-B340-9CCD42CD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90975"/>
            <a:ext cx="952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330Ω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A4523-13E2-4F48-96B2-C0D67E43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90975"/>
            <a:ext cx="800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8FB"/>
          </a:solidFill>
          <a:ln xmlns:a="http://schemas.openxmlformats.org/drawingml/2006/main" w="9525">
            <a:solidFill>
              <a:srgbClr val="20C7D9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84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F9628-640A-4ACD-A612-AD0AC589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0125"/>
            <a:ext cx="857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564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GND</a:t>
            </a:r>
          </a:p>
        </p:txBody>
      </p: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638300" y="4248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284"/>
            </a:solidFill>
            <a:prstDash val="solid"/>
            <a:headEnd type="none" w="med" len="med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62250" y="4248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284"/>
            </a:solidFill>
            <a:prstDash val="solid"/>
            <a:headEnd type="none" w="med" len="med"/>
          </a:ln>
        </p:spPr>
      </p:cxnSp>
      <p:cxnSp>
        <p:nvCxnSpPr>
          <p:cNvPr id="4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2762250" y="4505325"/>
            <a:ext cx="57150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284"/>
            </a:solidFill>
            <a:prstDash val="solid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11C4F-FF9A-4A28-830E-1FE24766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HARDWARE MODIFICATION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0B700-8E72-46FA-9355-CE2D7B4E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33718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F8FB"/>
          </a:solidFill>
          <a:ln xmlns:a="http://schemas.openxmlformats.org/drawingml/2006/main" w="9525">
            <a:solidFill>
              <a:srgbClr val="20C7D9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557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088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1. Place LED and 330 Ω resistor.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088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2. Connect PB0 → resistor → LED → GND.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60E9E-12BB-40DF-95C1-64FF6CF7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19250"/>
            <a:ext cx="7143750" cy="3733800"/>
          </a:xfrm>
          <a:prstGeom xmlns:a="http://schemas.openxmlformats.org/drawingml/2006/main" prst="roundRect">
            <a:avLst>
              <a:gd name="adj" fmla="val 4592"/>
            </a:avLst>
          </a:prstGeom>
          <a:solidFill xmlns:a="http://schemas.openxmlformats.org/drawingml/2006/main">
            <a:srgbClr val="0E1C2D"/>
          </a:solidFill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FB696-16B0-44CF-AFB7-04C2A6E1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680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EXPERIMENT 1  /  GPIO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A0BA9-24E6-4686-95D5-69265774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680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8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A83FA-192E-4ED7-8FA4-50558163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85975"/>
            <a:ext cx="68008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.include "m328pdef.inc"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.org 0x0000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RESET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RESET: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Configure PB0 as output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sbi DDRB, PB0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Make PB0 HIGH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sbi PORTB, PB0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LOOP: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7DE09-B170-4C3A-A9AF-8FC0717C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72125"/>
            <a:ext cx="71437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DDF8FB"/>
          </a:solidFill>
          <a:ln xmlns:a="http://schemas.openxmlformats.org/drawingml/2006/main" w="9525">
            <a:solidFill>
              <a:srgbClr val="20C7D9"/>
            </a:solidFill>
            <a:prstDash val="solid"/>
          </a:ln>
        </p:spPr>
        <p:txBody>
          <a:bodyPr xmlns:a="http://schemas.openxmlformats.org/drawingml/2006/main" wrap="square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Student challenge: replace  sbi PORTB, PB0  with  cbi PORTB, PB0  and observe the result.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44602-4DF5-4538-8D7F-AE702F58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34A59C-FFE8-40D0-858A-5F3BE2FE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1  /  GPIO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AB5A38-D097-4338-80FF-10621FC2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018040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71451-1A7F-486B-B0E4-9DE8289E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04AA8-4070-4AD6-BFC1-97F39387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02  /  AVR ASSEMBLY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33B89-9937-4E21-832A-1F131436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Experiment 2  /  LED blinking using software delay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842F8-6170-45C7-B01B-680BA091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34A18-6C40-4F54-B0F2-60E909A5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Introduce subroutines, counters and nested loops while keeping the same LED 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CF42A-DECE-447A-AE6B-193AECA0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rPr>
              <a:t>CONCEPT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AA19F-84B8-44C9-8322-95142B53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000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10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R18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outer 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7B9A6-E3B7-472F-8E17-5F7B19B4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000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10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R19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middle 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6C281-FDA0-49EE-938A-7593E6CE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52850"/>
            <a:ext cx="2000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10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R20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inner count</a:t>
            </a:r>
          </a:p>
        </p:txBody>
      </p:sp>
      <p:cxnSp>
        <p:nvCxnSpPr>
          <p:cNvPr id="31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685925" y="2743200"/>
            <a:ext cx="24765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2B84B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933575" y="3581400"/>
            <a:ext cx="24765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2B84B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6CA65-0854-4097-B7F9-535F7FB1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DEC  →  BRNE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when the counter reaches 0, the next loop continues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7E381-CC85-4F8D-851C-10778DBF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rPr>
              <a:t>HARDWARE MODIFICATION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38406-18C7-4647-A0DB-60D93D85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34290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60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088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Step: no hardware change. Keep the PB0 LED circuit.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088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Challenge: change  ldi r18, 40  to  ldi r18, 10.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59A04-E933-4A85-85A8-31CE408D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7029450" cy="45148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0E1C2D"/>
          </a:solidFill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A0B37-2E4A-4A9A-B917-178B0AB3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52600"/>
            <a:ext cx="668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EXPERIMENT 2  /  SOFTWARE DELAY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DBD02-CC32-4568-B163-94DDB28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81200"/>
            <a:ext cx="668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8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1A659-B3B7-43D4-AE0B-842C75A3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85975"/>
            <a:ext cx="66865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.include "m328pdef.inc"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.org 0x0000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RESET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RESET: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sbi DDRB, PB0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MAIN: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sbi PORTB, PB0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rcall DELAY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cbi PORTB, PB0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rcall DELAY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MAIN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DELAY: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r18, 40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D1: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r19, 255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D2: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r20, 255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D3: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dec r20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brne D3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dec r19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brne D2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dec r18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brne D1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0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7C6A6-448A-4FB5-9BEF-0212D512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996E7-FF0E-4499-8B88-04B2611C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2  /  RCALL, RET, DEC and BRNE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6F4C7-43E3-4E3C-8B23-38360256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086669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CA4F9-374C-4C89-95A1-5394A735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B5B"/>
          </a:solidFill>
          <a:ln xmlns:a="http://schemas.openxmlformats.org/drawingml/2006/main" w="0">
            <a:solidFill>
              <a:srgbClr val="F46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877A5-7E58-4661-9636-E3DB7A1F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03  /  AVR ASSEMBLY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BF6EC-3A11-4F81-838B-96CF19CB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Experiment 3  /  Push button controls 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95332-DDFA-4655-99CC-1DCDC924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5D9A0-203E-4CE8-A491-6BF9DE61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Move from output to input with an internal pull-up and active-low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89D68-AEFA-4D28-875C-D93DC074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6B5B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F46B5B"/>
                </a:solidFill>
                <a:latin typeface="Noto Sans"/>
                <a:ea typeface="Noto Sans"/>
                <a:cs typeface="Noto Sans"/>
              </a:rPr>
              <a:t>ACTIVE-LOW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0B60F-B74A-4555-B615-0297A538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619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10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Released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PD2 = 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A6E43-D7B5-4F25-B3AF-6407E313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38350"/>
            <a:ext cx="1619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46B5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10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Pressed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PD2 = LOW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05050" y="2371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46B5B"/>
            </a:solidFill>
            <a:prstDash val="solid"/>
            <a:head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701B0-F230-437B-B2B4-45EC50EE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765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6B5B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F46B5B"/>
                </a:solidFill>
                <a:latin typeface="Noto Sans"/>
                <a:ea typeface="Noto Sans"/>
                <a:cs typeface="Noto Sans"/>
              </a:rPr>
              <a:t>HARDWARE MODIFICATION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94992-7B53-4577-AEF6-EBA0A8A6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24200"/>
            <a:ext cx="2190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F46B5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8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088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1. Keep the PB0 LED.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088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2. Add a push button: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088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PD2 → button → GND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088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3. The code enables the pull-up.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AC076-395A-4813-9FE6-EED41D9A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0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SBIC PIND, PD2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0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clear means pressed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0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set means released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BE2C7-AC82-4A70-96FF-80EAF83A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3562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46B5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560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Student challenge: reverse the logic so the LED turns off while the button is pressed.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D29E0-6516-47B0-A01C-17202F40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6915150" cy="45148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0E1C2D"/>
          </a:solidFill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B44E9-5A91-4ED8-B402-CDDFA433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EXPERIMENT 3  /  INPUT + POLLING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6977B-BB02-4E27-AC47-65B07D91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8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6756F-387F-4D9D-890D-309306D2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85975"/>
            <a:ext cx="65722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.include "m328pdef.inc"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.org 0x0000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RESET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RESET: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sbi DDRB, PB0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cbi DDRD, PD2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sbi PORTD, PD2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MAIN: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Skip next instruction if PD2 is LOW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sbic PIND, PD2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BUTTON_NOT_PRESSED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BUTTON_PRESSED: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sbi PORTB, PB0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MAIN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BUTTON_NOT_PRESSED: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cbi PORTB, PB0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MAIN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98805-DD86-4A4B-8995-86896641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83CF4-FF41-4A1F-B5DC-563CA4B6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3  /  PINx, pull-up and SBIC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5733C-C6A3-4102-B1AF-A34E46AF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68519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3A5C46-3A60-4AAC-A87B-87DF4789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12CF5-7441-4C1A-9E44-404486C7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04  /  AVR ASSEMBLY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DFA65-1B74-41A7-8A51-7BC98C57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Experiment 4  /  Running LED pattern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4A2BD-2247-4033-92AE-B24A2F84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E3151-A6F2-46F9-8609-FB4F923B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Use a register as a moving bit pattern and make the shift visible on four LEDs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EF18F-30C0-4328-963D-FEAD69B3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8B7CFF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8B7CFF"/>
                </a:solidFill>
                <a:latin typeface="Noto Sans"/>
                <a:ea typeface="Noto Sans"/>
                <a:cs typeface="Noto Sans"/>
              </a:rPr>
              <a:t>DESIRED PATTERN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4FAE4-B6AE-4AEA-81B5-AEB18980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9FB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9FBFD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F2ABD-F0FA-481A-A3D0-8B5664E2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050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9FB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9FBFD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0A625-E072-49B8-BE63-18A5D6C1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050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9FB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9FBFD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CA5D6-E63E-4444-B96F-448832AA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1050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9FB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9FBFD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62EB1-B0AB-4E3F-81C5-63F250D4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0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1728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617284"/>
                </a:solidFill>
                <a:latin typeface="DejaVu Sans Mono"/>
                <a:ea typeface="DejaVu Sans Mono"/>
                <a:cs typeface="DejaVu Sans Mono"/>
              </a:rPr>
              <a:t>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9E686-A8C6-4FBC-ACD2-2D3AB83A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C54EA-E7DA-48D0-9A56-D0AEE9F5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57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0D25F-BDE6-40DB-80E8-28A83072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57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4CAFB-2FBE-450E-AF3F-2A52979B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657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FD491-1A9F-46D9-ABF5-B98A8B38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527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8B7C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8B7CFF"/>
                </a:solidFill>
                <a:latin typeface="DejaVu Sans Mono"/>
                <a:ea typeface="DejaVu Sans Mono"/>
                <a:cs typeface="DejaVu Sans Mono"/>
              </a:rPr>
              <a:t>LSL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D610A-802E-4D17-B693-91DAC7B8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99AF5-8442-4D4A-8404-D088B0BB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99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876C8-7188-4B67-812E-EDB21415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099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6EAF3-79D9-4A6D-A2F6-80F12694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2099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F64DC-6F28-4459-8A21-4815EA34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05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8B7C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8B7CFF"/>
                </a:solidFill>
                <a:latin typeface="DejaVu Sans Mono"/>
                <a:ea typeface="DejaVu Sans Mono"/>
                <a:cs typeface="DejaVu Sans Mono"/>
              </a:rPr>
              <a:t>LSL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F3DD69-6749-4505-93D7-DAC6E6AF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CB1ED-8BDB-42AA-8C3B-B0D294A5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62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6D1860-BA06-40F8-BB63-7B279ED3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62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15E0AF-9F00-44E0-8428-5F7D8BF6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762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48A654-4A41-4E4B-B78A-88C98EA0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57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8B7C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 i="0">
                <a:solidFill>
                  <a:srgbClr val="8B7CFF"/>
                </a:solidFill>
                <a:latin typeface="DejaVu Sans Mono"/>
                <a:ea typeface="DejaVu Sans Mono"/>
                <a:cs typeface="DejaVu Sans Mono"/>
              </a:rPr>
              <a:t>LSL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A988D5-AB22-4A6B-BC8F-6CE69820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8B7CFF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8B7CFF"/>
                </a:solidFill>
                <a:latin typeface="Noto Sans"/>
                <a:ea typeface="Noto Sans"/>
                <a:cs typeface="Noto Sans"/>
              </a:rPr>
              <a:t>HARDWARE MODIFICATION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ECACBB-E3A2-4477-8D6C-E891F2B3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1. Keep the PB0 LED.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2. Add LED and 330 Ω resistor at PB1, PB2 and PB3. Connect each LED to GND.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A48C23-86F0-41DB-8AA6-19CFDB5D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3562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AE7FF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560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Student challenge: add a reverse pattern using LSR, then alternate forward and reverse motion.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60F9ED-7AA1-4A61-ACDD-E6D84075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6915150" cy="45148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0E1C2D"/>
          </a:solidFill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271BC7-670B-49B7-8AE5-3CF00E2F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EXPERIMENT 4  /  BIT PATTERN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1B43E0-77FA-41C7-8FBF-DAB21288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86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3F3D07-A2B3-4AE2-ADA9-1C4C15DE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85975"/>
            <a:ext cx="65722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.include "m328pdef.inc"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.org 0x0000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RESET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RESET: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0x0F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DDRB,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0x01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MAIN: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PORTB,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rcall DELAY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lsl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cpi r16, 0x10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brne MAIN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0x01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MAIN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DELAY: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r18, 30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D1: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r19, 255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D2: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r20, 255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D3: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dec r20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brne D3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dec r19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brne D2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dec r18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brne D1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8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FF3059-17E5-495B-B678-DE5AE81D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8B85CE-85A9-434D-9F0A-A3F1348B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4  /  LSL, CPI, BRNE and subroutine reuse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B4B84E-17EB-4581-A090-077A5960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67832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15706B-894E-4E41-9F7D-4354C109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D9"/>
          </a:solidFill>
          <a:ln xmlns:a="http://schemas.openxmlformats.org/drawingml/2006/main" w="0">
            <a:solidFill>
              <a:srgbClr val="20C7D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68EEE-22B5-4D93-8ED6-3F1D9ED2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05  /  AVR ASSEMBLY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BA1FF-F7AD-4D29-8EF3-5D636A9D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Experiment 5  /  PWM generation using Timer0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27D71-6E0F-4FE1-9E9C-2269981D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9A8DA-538D-41C0-8380-9E48B0A5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Let the timer generate the waveform while the CPU waits in a simple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5F2CE-96D8-4293-9BBB-02EEA46F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HARDWARE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8F332-78B4-42CC-9322-5A44A13B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1811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0C7D9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95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Timer0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A0E62-EEB4-4688-96A9-9E30C53F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1811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DF8FB"/>
          </a:solidFill>
          <a:ln xmlns:a="http://schemas.openxmlformats.org/drawingml/2006/main" w="9525">
            <a:solidFill>
              <a:srgbClr val="20C7D9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95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OCR0A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32219-F0A6-4E08-89B4-0602C6C6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13906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PD6 / OC0A</a:t>
            </a:r>
          </a:p>
        </p:txBody>
      </p: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866900" y="23907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C7D9"/>
            </a:solidFill>
            <a:prstDash val="solid"/>
            <a:head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14700" y="23907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C7D9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75756-CED6-4FD6-88D9-8165D77C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HARDWARE MODIFICATION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1E4DD-0A7F-4C75-8DDD-50D7FFFA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88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1. Move or add LED + 330 Ω: PD6 / OC0A → resistor → LED → GND.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88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2. Connect scope signal to PD6 and scope ground to GND.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143E9-8B77-4094-A1BE-E6A55303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28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8FB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49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OCR0A = 64    ≈25%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3FF2F-58A1-4688-9610-7604E272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28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49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OCR0A = 128    ≈50%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45F93-6AD9-48AB-90B6-198FB4B7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28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F8EE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49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OCR0A = 192    ≈75%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DF5D4-49D0-421C-8220-D5BAD6B6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42862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DDF8FB"/>
          </a:solidFill>
          <a:ln xmlns:a="http://schemas.openxmlformats.org/drawingml/2006/main" w="9525">
            <a:solidFill>
              <a:srgbClr val="20C7D9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63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Student challenge: test 20, 64, 128, 200 and 255. Record brightness and waveform duty cycle.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6E991-D6B2-470D-899D-15B82594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6172200" cy="45148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0E1C2D"/>
          </a:solidFill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DD667-4D02-4BC9-9A1F-966BE280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52600"/>
            <a:ext cx="582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EXPERIMENT 5  /  TIMER0 PWM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B8A37-E925-44B8-A7A8-43539A59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81200"/>
            <a:ext cx="582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8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34705-D9FE-4702-9CAD-BAA87239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85975"/>
            <a:ext cx="58293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.include "m328pdef.inc"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.org 0x0000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RESET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RESET: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PD6 / OC0A output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sbi DDRD, PD6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Fast PWM, non-inverting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(1&lt;&lt;COM0A1) | (1&lt;&lt;WGM01) | (1&lt;&lt;WGM00)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TCCR0A,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Clock / 64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(1&lt;&lt;CS01) | (1&lt;&lt;CS00)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TCCR0B,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Approximately 50% duty cycle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128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OCR0A,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MAIN: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13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MAIN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5F6795-41BF-4469-AB68-7FB4D0D1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7A453-048A-4F9E-AE58-E2C53BAD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5  /  TCCR0A, TCCR0B and OCR0A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ED67DD-B676-417D-895D-E6CADDB9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86989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ED679C-BD50-429B-B3D2-E2507241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D9"/>
          </a:solidFill>
          <a:ln xmlns:a="http://schemas.openxmlformats.org/drawingml/2006/main" w="0">
            <a:solidFill>
              <a:srgbClr val="20C7D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16D8C-DAC9-4D69-89E9-DAAD221E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AVR ASSEMBLY LAB  /  SIMULIDE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CBC58-6B03-473A-BDD2-2E96447D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PWM and the oscilloscope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B7C93-52B7-4774-B744-EF831481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10B4C-86EE-4B9A-ACA2-788FF34E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Use the waveform to connect a register value with a visible duty cycle and brightness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CDC18-E9FD-4568-B67C-26B14C91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TIMER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A8809-166F-4E69-B17D-C57B532F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9530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871BD-0EA1-4FBB-9BAB-913365C2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E27AA-88CC-45EF-A9E1-56ABFD9E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255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14AF8-1F8B-45B2-B067-3D3CC848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27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2543B-9ECD-431B-AA5B-56CC502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26289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3850">
            <a:solidFill>
              <a:srgbClr val="20C7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94956-1131-4CEC-A6E5-BF8DDBFD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913" y="3095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 i="0">
                <a:solidFill>
                  <a:srgbClr val="617284"/>
                </a:solidFill>
                <a:latin typeface="DejaVu Sans Mono"/>
                <a:ea typeface="DejaVu Sans Mono"/>
                <a:cs typeface="DejaVu Sans Mono"/>
              </a:rPr>
              <a:t>64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5059A-0FE2-4F7F-85B9-58C02AC7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6289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38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D49D5-4192-401B-8E4E-3D86AC07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95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 i="0">
                <a:solidFill>
                  <a:srgbClr val="617284"/>
                </a:solidFill>
                <a:latin typeface="DejaVu Sans Mono"/>
                <a:ea typeface="DejaVu Sans Mono"/>
                <a:cs typeface="DejaVu Sans Mono"/>
              </a:rPr>
              <a:t>128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50088-8780-44DB-879B-CB2F3A2D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138" y="26289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23850">
            <a:solidFill>
              <a:srgbClr val="20C7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ABD75-699C-4906-B58D-2B9F6357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3095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 i="0">
                <a:solidFill>
                  <a:srgbClr val="617284"/>
                </a:solidFill>
                <a:latin typeface="DejaVu Sans Mono"/>
                <a:ea typeface="DejaVu Sans Mono"/>
                <a:cs typeface="DejaVu Sans Mono"/>
              </a:rPr>
              <a:t>191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74548-CFE6-44D7-9A42-471FB181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41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1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OCR0A chooses how long the output stays high during each timer cycle.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585D9-1175-43B5-9CFA-39442C66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09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rPr>
              <a:t>WAVEFORM EXAMPLES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8FB18E-873B-42E4-999B-ED86335D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95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0C7D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20C7D9"/>
                </a:solidFill>
                <a:latin typeface="DejaVu Sans Mono"/>
                <a:ea typeface="DejaVu Sans Mono"/>
                <a:cs typeface="DejaVu Sans Mono"/>
              </a:rPr>
              <a:t>25%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13DE3-F8B0-4835-8F04-53A5C83C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14575"/>
            <a:ext cx="8429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D9"/>
          </a:solidFill>
          <a:ln xmlns:a="http://schemas.openxmlformats.org/drawingml/2006/main" w="0">
            <a:solidFill>
              <a:srgbClr val="20C7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5B6C7-B6C5-4913-9C0A-220D2407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563" y="2314575"/>
            <a:ext cx="25288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A"/>
          </a:solidFill>
          <a:ln xmlns:a="http://schemas.openxmlformats.org/drawingml/2006/main" w="0">
            <a:solidFill>
              <a:srgbClr val="D8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FC65B5-D9C4-4919-B503-F039FBCE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0325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E9F99-A680-43B6-841E-00CE13A8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57475"/>
            <a:ext cx="8429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0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high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8CA017-1854-4335-B0C5-04AA7918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563" y="2657475"/>
            <a:ext cx="25288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8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48873C-138A-456F-A45E-9A1EABBE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051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2B8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F2B84B"/>
                </a:solidFill>
                <a:latin typeface="DejaVu Sans Mono"/>
                <a:ea typeface="DejaVu Sans Mono"/>
                <a:cs typeface="DejaVu Sans Mono"/>
              </a:rPr>
              <a:t>50%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19046A-FE29-4494-B7BD-ED786FAC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24225"/>
            <a:ext cx="1685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B1F256-BE1B-4F1E-9B94-E578D55E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324225"/>
            <a:ext cx="1685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A"/>
          </a:solidFill>
          <a:ln xmlns:a="http://schemas.openxmlformats.org/drawingml/2006/main" w="0">
            <a:solidFill>
              <a:srgbClr val="D8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428CE2-3357-4AE4-8937-72D00303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9975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73E8C8-35DC-4EF7-A7EA-B27C035F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67125"/>
            <a:ext cx="168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 i="0">
                <a:solidFill>
                  <a:srgbClr val="F2B84B"/>
                </a:solidFill>
                <a:latin typeface="Noto Sans"/>
                <a:ea typeface="Noto Sans"/>
                <a:cs typeface="Noto Sans"/>
              </a:defRPr>
            </a:pPr>
            <a:r>
              <a:rPr sz="825" b="0" i="0">
                <a:solidFill>
                  <a:srgbClr val="F2B84B"/>
                </a:solidFill>
                <a:latin typeface="Noto Sans"/>
                <a:ea typeface="Noto Sans"/>
                <a:cs typeface="Noto Sans"/>
              </a:rPr>
              <a:t>high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E9C245-E628-4A68-84D1-90904E09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667125"/>
            <a:ext cx="1685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8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53F692-B6C7-4D94-B421-ADE54CE6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148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35C79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 i="0">
                <a:solidFill>
                  <a:srgbClr val="35C795"/>
                </a:solidFill>
                <a:latin typeface="DejaVu Sans Mono"/>
                <a:ea typeface="DejaVu Sans Mono"/>
                <a:cs typeface="DejaVu Sans Mono"/>
              </a:rPr>
              <a:t>75%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9E6FA3-E710-4DF6-B304-6174C076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33875"/>
            <a:ext cx="25288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95"/>
          </a:solidFill>
          <a:ln xmlns:a="http://schemas.openxmlformats.org/drawingml/2006/main" w="0">
            <a:solidFill>
              <a:srgbClr val="35C79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D9F3ED-CFB9-49A8-A897-1461C78B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4333875"/>
            <a:ext cx="8429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A"/>
          </a:solidFill>
          <a:ln xmlns:a="http://schemas.openxmlformats.org/drawingml/2006/main" w="0">
            <a:solidFill>
              <a:srgbClr val="D8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922ADF-1E61-48AD-8612-6E5A3F5B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19625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FC7A91-B208-45C9-88C2-E292DBB9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76775"/>
            <a:ext cx="25288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 i="0">
                <a:solidFill>
                  <a:srgbClr val="35C795"/>
                </a:solidFill>
                <a:latin typeface="Noto Sans"/>
                <a:ea typeface="Noto Sans"/>
                <a:cs typeface="Noto Sans"/>
              </a:defRPr>
            </a:pPr>
            <a:r>
              <a:rPr sz="825" b="0" i="0">
                <a:solidFill>
                  <a:srgbClr val="35C795"/>
                </a:solidFill>
                <a:latin typeface="Noto Sans"/>
                <a:ea typeface="Noto Sans"/>
                <a:cs typeface="Noto Sans"/>
              </a:rPr>
              <a:t>high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94EA42-4572-4626-97AA-CAD88C4F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4676775"/>
            <a:ext cx="8429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82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7748FA-0ACB-4587-953F-415B3E7A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34000"/>
            <a:ext cx="41529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57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Before changing OCR0A, predict the oscilloscope trace. Then compare your prediction with the waveform.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A1C8C0-C4EA-4B43-969B-B2B37533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B98201-4B97-4985-B419-C4CB03A8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5  /  waveform interpretation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340705-273B-4894-94EC-26DF9203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02404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C31C08-1D6A-4C6B-8B47-674F295A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8B1FD-0DAE-4F4D-951D-C9A03ADB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06  /  AVR ASSEMBLY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61E75-3901-4BBC-BDB9-1DE7BC85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Experiment 6  /  ADC controls LED brightness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E3E6C-3C9E-4D88-AB53-691E8B88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AD2F7-14AF-46BB-9182-C256B38C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Map a potentiometer voltage to an 8-bit PWM value with a left-adjusted ADC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ED7D6-C36E-4D7A-8D7D-5C0CB78B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rPr>
              <a:t>SIGNAL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B168A-C477-48C9-A8D8-629C0000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7526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0B12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0810F-E441-42DC-A8E7-D7011D6F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Potentiometer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478E7-D162-47FE-A31A-F1C2223D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BED1DA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BED1DA"/>
                </a:solidFill>
                <a:latin typeface="Noto Sans"/>
                <a:ea typeface="Noto Sans"/>
                <a:cs typeface="Noto Sans"/>
              </a:rPr>
              <a:t>0–5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BF612-D2C8-4383-92A0-D0A8AB07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33600"/>
            <a:ext cx="17526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59123-99CE-4DD9-B233-83073723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ADC0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22B58-3A82-4FF0-9407-DB9C009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10-bit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ED877-182A-48E5-82FB-9ED2C7A5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17526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20C7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C2251-2E2B-4100-8A17-2F41485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ADCH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55C47-7242-4F0C-B21A-AEF5FA84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86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8-bit 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E74B1-9562-478A-BF84-1C81F7ED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33600"/>
            <a:ext cx="17526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35C79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586E0-C3E4-48FB-A51E-7678B6F6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OCR0A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20BB71-ED92-486C-9D8C-AA3AB86A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PWM duty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39AE5-F357-462D-AC45-333C3022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17526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F46B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F7EF5-EA53-4621-ACE5-DE799EC8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44EEE8-6637-4A20-810E-F80D4D5C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brightness</a:t>
            </a:r>
          </a:p>
        </p:txBody>
      </p: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38400" y="2590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17284"/>
            </a:solidFill>
            <a:prstDash val="solid"/>
            <a:head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572000" y="2590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17284"/>
            </a:solidFill>
            <a:prstDash val="solid"/>
            <a:head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705600" y="2590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17284"/>
            </a:solidFill>
            <a:prstDash val="solid"/>
            <a:head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839200" y="2590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17284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56A237-B0A2-4F3F-8DD4-E0CCC034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WHY LEFT-ADJUST?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4D5FD7-FCA2-46E9-9CA9-6685238B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9527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ADC output: 0 to 1023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5C76B1-EF91-457F-B135-D2F33FBC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81450"/>
            <a:ext cx="29527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DDF8FB"/>
          </a:solidFill>
          <a:ln xmlns:a="http://schemas.openxmlformats.org/drawingml/2006/main" w="9525">
            <a:solidFill>
              <a:srgbClr val="20C7D9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PWM input: 0 to 255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5D2588-A49D-418E-8276-17A94F29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3906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61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10-bit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E2384D-5278-4906-950B-6F2F76BD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13906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20C7D9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430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ADCH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8-bit</a:t>
            </a:r>
          </a:p>
        </p:txBody>
      </p:sp>
      <p:cxnSp>
        <p:nvCxnSpPr>
          <p:cNvPr id="68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076450" y="51530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C7D9"/>
            </a:solidFill>
            <a:prstDash val="solid"/>
            <a:head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F8D40D-8A89-4AE7-8EFB-0CCE0AB2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53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Left adjustment lets the program read ADCH directly and write it to OCR0A.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68B4F0-4A2F-4546-9B3F-A2875E3A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35C795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35C795"/>
                </a:solidFill>
                <a:latin typeface="Noto Sans"/>
                <a:ea typeface="Noto Sans"/>
                <a:cs typeface="Noto Sans"/>
              </a:rPr>
              <a:t>HARDWARE MODIFICATION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254B78-4F65-4C66-A4F6-23156698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525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CF8EE"/>
          </a:solidFill>
          <a:ln xmlns:a="http://schemas.openxmlformats.org/drawingml/2006/main" w="9525">
            <a:solidFill>
              <a:srgbClr val="35C795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585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1. Pot end pins: +5 V and GND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2. Wiper: PC0 / ADC0. Keep PWM LED: PD6 / OC0A.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2120C3-1A7E-4F15-BDD3-99C858DA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6306E5-5DDA-4BB8-8328-F71CB35D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6  /  PC0 / ADC0 to PD6 / OC0A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B21CD0-FF05-4598-9129-ED077D24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358555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D4660-228C-49A3-AA3E-B930466E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A399F-3576-4E1D-9DBD-5B46B6CB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06  /  AVR ASSEMBLY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C6C5F-ABD6-4A39-A8B9-4F70ACD8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Experiment 6  /  ADC controls LED brightness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98151-3C0C-4848-9AC0-46FAE9FC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D7D2B-2992-4E5F-9203-FDB8F784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AVRA-compatible example: ADC0 conversion, wait for completion, then ADCH to OCR0A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76DBD-97E5-4188-9115-29ADC8FA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953250" cy="45148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0E1C2D"/>
          </a:solidFill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C6E49-873A-4083-90BC-4A724B3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661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EXPERIMENT 6  /  COMPLETE ADC + PWM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B456F-DF84-46F2-902F-A2E1B251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661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8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8DC0D-BEE6-4FFD-A7D6-9E6D9B94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66103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.include "m328pdef.inc"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.org 0x0000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RESET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RESET: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PWM setup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sbi DDRD, PD6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(1&lt;&lt;COM0A1) | (1&lt;&lt;WGM01) | (1&lt;&lt;WGM00)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TCCR0A,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(1&lt;&lt;CS01) | (1&lt;&lt;CS00)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TCCR0B,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ADC setup: AVcc, left adjusted, ADC0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(1&lt;&lt;REFS0) | (1&lt;&lt;ADLAR)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sts ADMUX,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(1&lt;&lt;ADEN) | (1&lt;&lt;ADPS2) | (1&lt;&lt;ADPS1) | (1&lt;&lt;ADPS0)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sts ADCSRA,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MAIN: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Start ADC conversion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lds r16, ADCSRA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ori r16, (1&lt;&lt;ADSC)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sts ADCSRA,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WAIT_ADC: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lds r16, ADCSRA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Wait while ADSC = 1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sbrc r16, ADSC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WAIT_ADC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Read 8-bit ADC result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lds r17, ADCH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ADC directly controls PWM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OCR0A, r17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48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CB300-AA4C-4FFD-9A7C-DB2BE31B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F2B84B"/>
                </a:solidFill>
                <a:latin typeface="Noto Sans"/>
                <a:ea typeface="Noto Sans"/>
                <a:cs typeface="Noto Sans"/>
              </a:rPr>
              <a:t>CHECK YOUR UNDERSTANDING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59912-C5A5-4A69-8793-EE66114F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200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ADMUX selects AVcc reference, left adjustment and ADC0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200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ADCSRA enables the ADC and sets the clock prescaler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200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ADSC starts a conversion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200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SBRC keeps waiting while ADSC is still set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200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ADCH becomes the new PWM duty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955ED-4BE6-478B-804B-744DBAF2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19650"/>
            <a:ext cx="3333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If AVRA rejects a line-continuation expression, keep the bitwise expression on one line as shown here.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0870C-08CC-4296-AC16-46431AC9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F5221-5C90-4D2F-A196-A28BAD05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6  /  ADMUX, ADCSRA, ADCH and OCR0A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21A43-12F5-422E-ACF1-EEC04FEB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52381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BFEB0-6B0F-436A-860D-D5A785B5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95"/>
          </a:solidFill>
          <a:ln xmlns:a="http://schemas.openxmlformats.org/drawingml/2006/main" w="0">
            <a:solidFill>
              <a:srgbClr val="35C7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489AA-DDBD-402A-867D-ABAB01FE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07  /  AVR ASSEMBLY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9DF84-31BC-494D-AF57-04C0BDA9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Experiment 7  /  Interrupt + ADC + PWM integrated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B63B3-A97A-411F-8335-C674A063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C3C92-E9E8-46A2-A2C6-90BBBAE9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Final requirement: the potentiometer controls brightness and a button toggles the entire LED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EE0D5-DAFF-48AF-8B87-3F282456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35C795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35C795"/>
                </a:solidFill>
                <a:latin typeface="Noto Sans"/>
                <a:ea typeface="Noto Sans"/>
                <a:cs typeface="Noto Sans"/>
              </a:rPr>
              <a:t>SYSTEM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742CD-77E0-4506-BCD6-A6210015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000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Potentiometer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PC0 / ADC0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60F94-6DA8-47F1-A47A-46BD53B1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16764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ADC0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ADCH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64664-AEFF-4121-A8D8-A9EEEC2C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09800"/>
            <a:ext cx="16764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20C7D9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OCR0A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PWM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FCB73-E19E-41B5-9D31-9F902641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2000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DF8FB"/>
          </a:solidFill>
          <a:ln xmlns:a="http://schemas.openxmlformats.org/drawingml/2006/main" w="9525">
            <a:solidFill>
              <a:srgbClr val="20C7D9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LED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PD6 / OC0A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86050" y="25812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284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19650" y="25812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284"/>
            </a:solidFill>
            <a:prstDash val="solid"/>
            <a:head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953250" y="25812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284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5B25C-96CC-4FC2-AAF2-C31DD5FE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05250"/>
            <a:ext cx="20955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46B5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Button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PD2 / INT0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6F510-60E2-4F5E-94B8-E5BF8E3F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17907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F46B5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INT0 ISR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6FEA1-D3C3-4698-A11F-54DD0BCF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05250"/>
            <a:ext cx="2000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46B5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ON / OFF state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r20</a:t>
            </a:r>
          </a:p>
        </p:txBody>
      </p: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305300" y="42767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6B5B"/>
            </a:solidFill>
            <a:prstDash val="solid"/>
            <a:head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743700" y="42767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6B5B"/>
            </a:solidFill>
            <a:prstDash val="solid"/>
            <a:head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6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6115050" y="2952750"/>
            <a:ext cx="227647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F46B5B"/>
            </a:solidFill>
            <a:prstDash val="dash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2C3A1-D0B7-4A9A-854D-EEC54BD1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35C795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35C795"/>
                </a:solidFill>
                <a:latin typeface="Noto Sans"/>
                <a:ea typeface="Noto Sans"/>
                <a:cs typeface="Noto Sans"/>
              </a:rPr>
              <a:t>HARDWARE MODIFICATION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143A9-F267-427D-84F2-1ECCDFA1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87249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CF8EE"/>
          </a:solidFill>
          <a:ln xmlns:a="http://schemas.openxmlformats.org/drawingml/2006/main" w="9525">
            <a:solidFill>
              <a:srgbClr val="35C795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33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1. Keep pot ends at +5 V and GND. Keep wiper at PC0 / ADC0.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2. Keep PWM LED at PD6 / OC0A.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3. Add push button: PD2 / INT0 → button → GND.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A63BC-B0FC-48BE-99FE-034DE87F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AAE0A-3215-4F7A-B0E0-8CDAE335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7  /  final integrated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35FD6-700D-4FB1-B689-863E841D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45172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F69A6-3245-4F95-AD85-4806E98C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95"/>
          </a:solidFill>
          <a:ln xmlns:a="http://schemas.openxmlformats.org/drawingml/2006/main" w="0">
            <a:solidFill>
              <a:srgbClr val="35C7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5568E-51C1-451A-B824-CA37A8D6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07  /  AVR ASSEMBLY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134CA-9D68-4A06-85A4-F7DE7B7D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Experiment 7  /  Integrated project code  /  setup + main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85AD6-B6E4-4AC3-AC41-CEC77BE7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00BD-519E-468A-AC1C-D9324909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Part 1 of 2. The vector table, stack, PWM, ADC, button and main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33B42-9B5B-4268-8F9C-69846070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905750" cy="46291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E1C2D"/>
          </a:solidFill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7778C-19F0-448A-AFBF-48B61FA5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7562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EXPERIMENT 7  /  COMPLETE CODE 1 OF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86421-4DBA-4931-927D-165F0B0F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756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8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1D883-835E-49F3-957F-1D4C7D6D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756285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757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.include "m328pdef.inc"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; INTERRUPT VECTOR TABLE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.org 0x0000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RESET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.org INT0addr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INT0_ISR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.org 0x0034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RESET: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Stack initialization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HIGH(RAMEND)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SPH,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LOW(RAMEND)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SPL,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PWM setup on PD6 / OC0A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sbi DDRD, PD6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(1&lt;&lt;COM0A1) | (1&lt;&lt;WGM01) | (1&lt;&lt;WGM00)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TCCR0A,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(1&lt;&lt;CS01) | (1&lt;&lt;CS00)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TCCR0B,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ADC setup: AVcc, left adjusted, ADC0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(1&lt;&lt;REFS0) | (1&lt;&lt;ADLAR)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sts ADMUX,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(1&lt;&lt;ADEN) | (1&lt;&lt;ADPS2) | (1&lt;&lt;ADPS1) | (1&lt;&lt;ADPS0)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sts ADCSRA,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Button on PD2 / INT0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cbi DDRD, PD2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sbi PORTD, PD2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(1&lt;&lt;ISC01)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sts EICRA,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sbi EIMSK, INT0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Initial state = 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r20, 1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sei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MAIN: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tst r20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breq SYSTEM_OFF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Start ADC conversion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lds r16, ADCSRA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ori r16, (1&lt;&lt;ADSC)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sts ADCSRA,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WAIT_ADC: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lds r16, ADCSRA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sbrc r16, ADSC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WAIT_ADC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ADC to PWM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lds r17, ADCH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OCR0A, r17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10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DC800-1920-4859-B0B3-2E71636B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383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35C795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35C795"/>
                </a:solidFill>
                <a:latin typeface="Noto Sans"/>
                <a:ea typeface="Noto Sans"/>
                <a:cs typeface="Noto Sans"/>
              </a:rPr>
              <a:t>VERIFY BEFORE RUNNING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F060E-03F5-4AFE-B9D8-0F32C008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81200"/>
            <a:ext cx="2324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12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Vector table routes RESET and INT0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12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Stack is ready before PUSH and POP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12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PD6 carries hardware PWM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12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PD2 uses an internal pull-up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12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SEI enables global interrupts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C4E88-18C4-4F54-90A9-EBFB64CE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10125"/>
            <a:ext cx="23241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DCF8EE"/>
          </a:solidFill>
          <a:ln xmlns:a="http://schemas.openxmlformats.org/drawingml/2006/main" w="9525">
            <a:solidFill>
              <a:srgbClr val="35C795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12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The ISR code continues on the next slide.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982A3-A469-4387-AF59-B88C09D9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5A0C6-050B-404A-9905-73B82A53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7  /  vector table, setup and 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B9A3C-8095-4C5D-9BA1-59AD972C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278068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C5E8F3-8045-4576-8F4C-D169C86E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95"/>
          </a:solidFill>
          <a:ln xmlns:a="http://schemas.openxmlformats.org/drawingml/2006/main" w="0">
            <a:solidFill>
              <a:srgbClr val="35C7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508A6-721E-4363-9808-DEC034C2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07  /  AVR ASSEMBLY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5C660-A162-45B7-AFAD-71F29757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Experiment 7  /  Integrated project code  /  off state + ISR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C002E-D6B6-4D8C-9714-58F4DEFB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9B61B-892D-4B77-8BDC-33D73B6D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Part 2 of 2. The system-off branch and a safe external-interrupt service routine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06781-0635-4CE6-BBBF-105DAE99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619750" cy="428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E1C2D"/>
          </a:solidFill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53C84-A5E3-4111-ADEC-234EA686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527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EXPERIMENT 7  /  COMPLETE CODE 2 OF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538D6-B912-4168-9085-DD5B5884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527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8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18EB4-6517-424F-9EB2-ADA7365C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5276850" cy="369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SYSTEM_OFF: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clr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OCR0A,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rjmp MAIN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INT0_ISR: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Save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push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Save status register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in r16, SREG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push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Toggle system state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ldi r16, 1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eor r20,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Restore SREG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pop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out SREG,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; Restore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pop r16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 i="0">
                <a:solidFill>
                  <a:srgbClr val="E1F7FF"/>
                </a:solidFill>
                <a:latin typeface="DejaVu Sans Mono"/>
                <a:ea typeface="DejaVu Sans Mono"/>
                <a:cs typeface="DejaVu Sans Mono"/>
              </a:rPr>
              <a:t>    reti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0CFAB-BCFD-4D4F-A949-65E11C48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240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6B5B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F46B5B"/>
                </a:solidFill>
                <a:latin typeface="Noto Sans"/>
                <a:ea typeface="Noto Sans"/>
                <a:cs typeface="Noto Sans"/>
              </a:rPr>
              <a:t>ISR SEQUENCE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F92E7-9236-4CB6-88B7-17C6DB59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24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B5B"/>
          </a:solidFill>
          <a:ln xmlns:a="http://schemas.openxmlformats.org/drawingml/2006/main" w="0">
            <a:solidFill>
              <a:srgbClr val="F46B5B"/>
            </a:solidFill>
            <a:prstDash val="solid"/>
          </a:ln>
        </p:spPr>
        <p:txBody>
          <a:bodyPr xmlns:a="http://schemas.openxmlformats.org/drawingml/2006/main" anchor="ctr">
            <a:normAutofit fontScale="661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004D2-B43D-4948-A503-D5BFAF6C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6217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PUSH R16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3D2F2-98EB-455C-9052-D8B8B1A2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907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protect working register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632A8-DB80-4B38-BAE6-13BDF215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447925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4325">
            <a:solidFill>
              <a:srgbClr val="F46B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E067A-2EB1-4045-A03D-79D096A0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B5B"/>
          </a:solidFill>
          <a:ln xmlns:a="http://schemas.openxmlformats.org/drawingml/2006/main" w="0">
            <a:solidFill>
              <a:srgbClr val="F46B5B"/>
            </a:solidFill>
            <a:prstDash val="solid"/>
          </a:ln>
        </p:spPr>
        <p:txBody>
          <a:bodyPr xmlns:a="http://schemas.openxmlformats.org/drawingml/2006/main" anchor="ctr">
            <a:normAutofit fontScale="661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E0CAF-E99C-4DA0-988B-D6CE8AE6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Save SREG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564F2-522A-4AF9-BD21-3FC6E8E1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289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preserve flags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9A922-9EAA-466F-A393-99D65F81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861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4325">
            <a:solidFill>
              <a:srgbClr val="F46B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8118D-9C48-41A0-A072-4D69A17B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0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B5B"/>
          </a:solidFill>
          <a:ln xmlns:a="http://schemas.openxmlformats.org/drawingml/2006/main" w="0">
            <a:solidFill>
              <a:srgbClr val="F46B5B"/>
            </a:solidFill>
            <a:prstDash val="solid"/>
          </a:ln>
        </p:spPr>
        <p:txBody>
          <a:bodyPr xmlns:a="http://schemas.openxmlformats.org/drawingml/2006/main" anchor="ctr">
            <a:normAutofit fontScale="661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7781C-5F6F-4124-ADEC-E34B879F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3852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EOR R20, R16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8F75F-F680-43F4-9635-1E5549CB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toggle ON / 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315031-6C6C-4763-A551-46C1467B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724275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4325">
            <a:solidFill>
              <a:srgbClr val="F46B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6EC26-B5F8-4CEF-B870-CB5A6EE4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B5B"/>
          </a:solidFill>
          <a:ln xmlns:a="http://schemas.openxmlformats.org/drawingml/2006/main" w="0">
            <a:solidFill>
              <a:srgbClr val="F46B5B"/>
            </a:solidFill>
            <a:prstDash val="solid"/>
          </a:ln>
        </p:spPr>
        <p:txBody>
          <a:bodyPr xmlns:a="http://schemas.openxmlformats.org/drawingml/2006/main" anchor="ctr">
            <a:normAutofit fontScale="661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DF0A8-08DF-43F1-85A4-0ECC265E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767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Restore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CE8D5-FD43-4D37-8F55-72963875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05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reverse the save order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CF633-2CED-4D27-8FD1-4BE77685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3624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4325">
            <a:solidFill>
              <a:srgbClr val="F46B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1708F7-E793-44D3-A2BB-62878F1A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76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795"/>
          </a:solidFill>
          <a:ln xmlns:a="http://schemas.openxmlformats.org/drawingml/2006/main" w="0">
            <a:solidFill>
              <a:srgbClr val="35C795"/>
            </a:solidFill>
            <a:prstDash val="solid"/>
          </a:ln>
        </p:spPr>
        <p:txBody>
          <a:bodyPr xmlns:a="http://schemas.openxmlformats.org/drawingml/2006/main" anchor="ctr">
            <a:normAutofit fontScale="661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62B43C-A960-4170-AEEA-711E061C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1487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RETI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C85DB-69AD-4053-9A00-8CD0575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434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return to MAIN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8C66BE-452D-4FCF-9A82-04F68E92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48300"/>
            <a:ext cx="43624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46B5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7052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Run and observe: press the button once, then move the potentiometer. The LED should switch off, then resume the mapped brightness after the next press.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76EAFF-BF95-45E8-9F91-3BC29ADB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A5C820-A18F-4376-A332-ED528FEF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Experiment 7  /  PUSH, SREG, EOR, POP and RETI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7B92ED-3389-43AA-821E-5929B4E9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349118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22F033-A918-44D2-95ED-71CEC9BC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B5B"/>
          </a:solidFill>
          <a:ln xmlns:a="http://schemas.openxmlformats.org/drawingml/2006/main" w="0">
            <a:solidFill>
              <a:srgbClr val="F46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F88FD-49D3-4DFB-8E1F-218D8A67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AVR ASSEMBLY LAB  /  SIMULIDE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CBBE0-C077-4000-98C2-0F0EC7FB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Student challenge and submission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0479E-B9CD-4092-931F-CB4077C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CB5B0-6489-43E2-B742-B2F9289A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Modify the integrated project and demonstrate the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FAFE6-231F-447D-8E73-D23E19CE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6B5B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F46B5B"/>
                </a:solidFill>
                <a:latin typeface="Noto Sans"/>
                <a:ea typeface="Noto Sans"/>
                <a:cs typeface="Noto Sans"/>
              </a:rPr>
              <a:t>YOUR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0A347-CBAC-44E5-A9F9-8FE1345C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7813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41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Challenge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69221-B5D9-4138-906B-661BDCD0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781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Modify the integrated system so that the button changes the behavior in a visible way. Examples: reverse the button polarity, cap the maximum brightness, or make the LED blink when the system is 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7963B-F9CE-4261-B086-EBAC6759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7813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46B5B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Explain which register, bit, flag or branch you changed.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46581-DA4A-4CDF-A0DC-51DF1FB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287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WHAT THE SEQUENCE BUILT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A499D-75F4-4935-947F-FE166DC1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47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D9"/>
          </a:solidFill>
          <a:ln xmlns:a="http://schemas.openxmlformats.org/drawingml/2006/main" w="0">
            <a:solidFill>
              <a:srgbClr val="20C7D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F44A9-A15A-4D6F-A7C9-3B4DA8F4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97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GPIO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197FA-7B67-4F56-BC81-D1246DEC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479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355BB-9877-4D56-88D0-9A18EC5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47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BE73A-062A-4E58-B32C-66791CFA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97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Loops and delay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2D68B-69F1-4888-A4CF-25ECD7E0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479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F4EB8-7CBF-46E4-BF1D-400C03DC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B5B"/>
          </a:solidFill>
          <a:ln xmlns:a="http://schemas.openxmlformats.org/drawingml/2006/main" w="0">
            <a:solidFill>
              <a:srgbClr val="F46B5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4CE0E-BC9A-403E-96D2-E4A1D9BF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97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GPIO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DBA4C-0F1A-4375-BC04-0384A25B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479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BDDA4-906B-43B9-902B-818833B7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47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42587-F9F9-44CD-BEE3-A9A7C5F9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97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Bit shift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9AC25-AE60-4C32-AFDB-75FB01C2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479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7CC84-9B53-4E6D-8A6B-64CA6A0A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7D9"/>
          </a:solidFill>
          <a:ln xmlns:a="http://schemas.openxmlformats.org/drawingml/2006/main" w="0">
            <a:solidFill>
              <a:srgbClr val="20C7D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4B806-B722-4C5F-8108-E198064B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97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Timer0 PWM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17CFEF-0A25-4827-B722-4C0A8062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479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5B47A-1C5A-41BA-8174-37651EA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873BF-D4F0-4A7E-BA76-651A7A6B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97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ADC to PWM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936346-DC5F-42AF-975F-B3712526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479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E2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1DE12D-A619-4C79-A438-450E6E38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47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795"/>
          </a:solidFill>
          <a:ln xmlns:a="http://schemas.openxmlformats.org/drawingml/2006/main" w="0">
            <a:solidFill>
              <a:srgbClr val="35C79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BB168A-EFF2-497A-A32F-C2C87F4C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Interrupt plus ADC plus PWM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6A4CD-8D41-4E15-8CC5-8CE38FD2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95750"/>
            <a:ext cx="62865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8FB"/>
          </a:solidFill>
          <a:ln xmlns:a="http://schemas.openxmlformats.org/drawingml/2006/main" w="9525">
            <a:solidFill>
              <a:srgbClr val="20C7D9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867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Your code grows from simple GPIO instructions to a system with PWM, ADC and interrupts.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5FD6C5-D9E2-4715-A938-23F056D2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7685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Before you submit, name the signal path from potentiometer to LED and the path from button to ISR state.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10202C-34D4-409C-8C6F-A53EFE5B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DC9B0F-CDE1-4F3D-BB71-A5F8DC40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Student challenge and submission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4D8F07-4FBE-45E9-B9F5-6CD9FED1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528284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FAF00-2798-44B3-AD7E-2EA73E4B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95"/>
          </a:solidFill>
          <a:ln xmlns:a="http://schemas.openxmlformats.org/drawingml/2006/main" w="0">
            <a:solidFill>
              <a:srgbClr val="35C7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2DD14-3910-4F1E-BEF5-3EE30B40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AVR ASSEMBLY LAB  /  SIMULIDE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FE303-B31B-4583-99E2-93E5152A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Student troubleshooting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D4B62-F59A-4F94-9495-BD08D169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F5004-45D7-469F-B8B8-5B923006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Use this checklist before you change more code or ask for help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C8222-5E9F-4C9E-AB67-356C0535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35C795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35C795"/>
                </a:solidFill>
                <a:latin typeface="Noto Sans"/>
                <a:ea typeface="Noto Sans"/>
                <a:cs typeface="Noto Sans"/>
              </a:rPr>
              <a:t>CHECK THESE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E07BF-CB6D-4B72-BD3E-67FD8EF9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6863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27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Confirm that AVRA built the current .asm file without errors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27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Load the matching .hex file into the ATmega328P in SimulIDE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27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Check the selected pin and the matching DDR, PORT or PIN register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27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Inspect one layer at a time: source, register, pin, component</a:t>
            </a:r>
          </a:p>
          <a:p xmlns:a="http://schemas.openxmlformats.org/drawingml/2006/main">
            <a:pPr marL="228600" indent="-114300">
              <a:lnSpc>
                <a:spcPct val="112000"/>
              </a:lnSpc>
              <a:spcAft>
                <a:spcPts val="900"/>
              </a:spcAft>
              <a:buNone/>
              <a:defRPr sz="1275" b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Save a working copy before you start the next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9854D-C9D5-46EE-9870-165E3ECB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287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6B5B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F46B5B"/>
                </a:solidFill>
                <a:latin typeface="Noto Sans"/>
                <a:ea typeface="Noto Sans"/>
                <a:cs typeface="Noto Sans"/>
              </a:rPr>
              <a:t>COMMON FAILURE 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46A67-F222-42E5-8FE2-5AC66ADC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2006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46B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0928C-F73C-4958-BC63-FFA976BB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LED never lights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DEE01-3F3F-48EA-BB46-F3621B9A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Check LED orientation, resistor path and DDR bit.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1A5C1-9843-46C8-93DC-723BF174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52006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7BD69-3758-47FC-A0AC-5DDD08CE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Button logic looks reversed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EB0F0-6DB7-42D7-A58D-867A701B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Pull-up means released is HIGH and pressed is LOW.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CBA9F-9FE7-4F5C-9C9F-8F17FD5E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52006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DDF8FB"/>
          </a:solidFill>
          <a:ln xmlns:a="http://schemas.openxmlformats.org/drawingml/2006/main" w="9525">
            <a:solidFill>
              <a:srgbClr val="20C7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89255-17CA-4BB6-866E-4D9B32D4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No PWM waveform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87AF0-7A0E-47A7-974B-B7EAFE96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Check PD6, OC0A, COM0A1, WGM bits and timer clock.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5AD97-3CF0-44C8-9256-5480F7FF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52006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DCF8EE"/>
          </a:solidFill>
          <a:ln xmlns:a="http://schemas.openxmlformats.org/drawingml/2006/main" w="9525">
            <a:solidFill>
              <a:srgbClr val="35C79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D46D6-8966-4337-A756-95D60CCE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ADC value stays fixed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0F6AD-FE79-4447-8421-5F02AB6F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481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Check the wiper on PC0, AVcc reference and ADSC wait.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C7E604-BBC6-4CD0-859B-46367C2A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76800"/>
            <a:ext cx="52006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EAE7FF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A551A-EDCA-4C15-9442-00C3F0C2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72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Interrupt does not fire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A36B2-1CE5-4B01-8604-DC347326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Check PD2 pull-up, falling edge, EIMSK, SEI and RETI.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341BF6-311A-49D6-A71B-9F8E3EEF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9FBFD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F9FBFD"/>
                </a:solidFill>
                <a:latin typeface="Noto Sans"/>
                <a:ea typeface="Noto Sans"/>
                <a:cs typeface="Noto Sans"/>
              </a:rPr>
              <a:t>Debug in this order: source code, assembled hex, device selection, register state, pin state, component wiring.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FB711-31BA-4D72-BC07-D461CA8F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63377-0589-4E6B-B69B-E3AB9890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Student reference  /  debug one observable layer at a 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DBB7DB-70EE-4452-B3E5-801F1F50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852352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E79A18-98B7-4F26-803B-396EC363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61F1F-8E87-49FD-9508-A2C8ED18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AVR ASSEMBLY LAB  /  SIMULIDE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3FD43-0E05-4F32-ADBC-82F6AB2E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Appendix: instruction and register progression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A0F4C-4632-4FBB-89DD-A8507A39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C0F88-B027-4C4B-83C0-D67A0EBA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Keep this reference open while you write and debug your assembly programs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B81AC-CEDD-4693-9A73-5D8B0DAE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8B7CFF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8B7CFF"/>
                </a:solidFill>
                <a:latin typeface="Noto Sans"/>
                <a:ea typeface="Noto Sans"/>
                <a:cs typeface="Noto Sans"/>
              </a:rPr>
              <a:t>INSTRUCTION VOCABULARY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C74E4-177A-4816-B07B-AD186B87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504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20C7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AD895-22CD-493E-8400-D4200DB0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542D0-47D3-4CC7-B54E-A1061CBD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431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 i="0">
                <a:solidFill>
                  <a:srgbClr val="20C7D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1" i="0">
                <a:solidFill>
                  <a:srgbClr val="20C7D9"/>
                </a:solidFill>
                <a:latin typeface="DejaVu Sans Mono"/>
                <a:ea typeface="DejaVu Sans Mono"/>
                <a:cs typeface="DejaVu Sans Mono"/>
              </a:rPr>
              <a:t>LDI  OUT  IN  SBI  CBI  RJMP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4E4F8-D8BF-4F94-8D95-0ECEBAC8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504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F46FE-AF75-4D71-837B-60B968B2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Control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21A61-D514-4BBB-9CF3-65D7BA3A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717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 i="0">
                <a:solidFill>
                  <a:srgbClr val="F2B8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1" i="0">
                <a:solidFill>
                  <a:srgbClr val="F2B84B"/>
                </a:solidFill>
                <a:latin typeface="DejaVu Sans Mono"/>
                <a:ea typeface="DejaVu Sans Mono"/>
                <a:cs typeface="DejaVu Sans Mono"/>
              </a:rPr>
              <a:t>DEC  BRNE  RCALL  RET  CPI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9F960-8288-4A01-932C-8D52C713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04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F46B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74DEC-6FE5-4A2C-9410-2CBCC4BC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Peripheral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0A6B0-0CDC-4EAF-A78F-572EF01E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04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 i="0">
                <a:solidFill>
                  <a:srgbClr val="F46B5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1" i="0">
                <a:solidFill>
                  <a:srgbClr val="F46B5B"/>
                </a:solidFill>
                <a:latin typeface="DejaVu Sans Mono"/>
                <a:ea typeface="DejaVu Sans Mono"/>
                <a:cs typeface="DejaVu Sans Mono"/>
              </a:rPr>
              <a:t>LDS  STS  ORI  SBIC  SBRC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E3587-3841-4223-8D84-0985286A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504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9050">
            <a:solidFill>
              <a:srgbClr val="35C79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F373B-377D-4175-B722-ED71DB0F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1" i="0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Interrupt safety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DF27D-748D-4ACA-9A12-857AF28B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290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 i="0">
                <a:solidFill>
                  <a:srgbClr val="35C79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88" b="1" i="0">
                <a:solidFill>
                  <a:srgbClr val="35C795"/>
                </a:solidFill>
                <a:latin typeface="DejaVu Sans Mono"/>
                <a:ea typeface="DejaVu Sans Mono"/>
                <a:cs typeface="DejaVu Sans Mono"/>
              </a:rPr>
              <a:t>PUSH  POP  SEI  EOR  RETI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8DE3C-C76B-4250-8AA1-1B15C6B7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97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defRPr>
            </a:pPr>
            <a:r>
              <a:rPr sz="825" b="1" i="0">
                <a:solidFill>
                  <a:srgbClr val="20C7D9"/>
                </a:solidFill>
                <a:latin typeface="Noto Sans"/>
                <a:ea typeface="Noto Sans"/>
                <a:cs typeface="Noto Sans"/>
              </a:rPr>
              <a:t>REGISTER CHEAT SHEET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A52645-F546-4057-BBC5-5D614D54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3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B559F-8C22-46B1-BA8B-500221BB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6692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DDRB / DDRD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59AE9-5BEF-4E9E-9EEF-1395E519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6692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pin direction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E171DF-4357-4C81-BED2-5D70814D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93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8F9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46E00-DE39-4747-AFB9-9E7FF949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PORTB / PORTD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EF5B2-ACF7-48FD-9EAB-8B439228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6697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output and pull-up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D9DD60-F374-498B-AD20-E76D6E78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93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C18D8-D7EE-46D9-9897-C505572A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6702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PINB / PIND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835DA2-3A30-4C18-A7AA-4E22B592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6702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read physical pins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F4D633-DA8E-4D1F-A3E1-5D8EF04A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0400"/>
            <a:ext cx="493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8F9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FACEF0-4D51-4082-B63C-E7F73CB0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6707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TCCR0A / TCCR0B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FD16CE-513E-4F89-997A-788D0020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Timer0 mode and clock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44BA6B-070F-4B54-85A6-BB9E5CE9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493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6D43E3-495C-4348-ADD1-06DD346F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6712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OCR0A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711547-D313-455A-93C7-497F0882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PWM duty value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900D69-34C6-485C-93FF-13AECB6D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93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8F9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B420A6-2ECA-4838-94AF-BC7E3CF6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6717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ADMUX / ADCSRA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4C76F5-236C-4F2B-8601-87082CD7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6717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ADC reference, start and prescaler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055BEA-FC3A-45F8-987C-58DA16C8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493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429B21-ED61-4F96-ADCF-2EC1543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6722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ADCH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831256-15E5-41BD-855B-3ED0D6F5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6722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left-adjusted ADC high byte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16B003-7BBA-4A3B-A95D-FECEBE88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493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8F9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875584-8124-478C-AD0B-DB1C64A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6727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EICRA / EIMSK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CB2675-BF5B-48A4-A61F-123EEA07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6727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INT0 edge and enable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7A4A00-4ACB-4E78-91C1-EF694151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00650"/>
            <a:ext cx="493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0FE545-E26A-4F24-95C2-9A426943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67325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38" b="1" i="0">
                <a:solidFill>
                  <a:srgbClr val="142735"/>
                </a:solidFill>
                <a:latin typeface="DejaVu Sans Mono"/>
                <a:ea typeface="DejaVu Sans Mono"/>
                <a:cs typeface="DejaVu Sans Mono"/>
              </a:rPr>
              <a:t>SREG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D187E3-53A9-44E8-BD03-A5789CE8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6732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1013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status flags saved in ISR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7E868B-D0C7-4FA7-A72D-997FFB53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E7FF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47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42735"/>
                </a:solidFill>
                <a:latin typeface="Noto Sans"/>
                <a:ea typeface="Noto Sans"/>
                <a:cs typeface="Noto Sans"/>
              </a:rPr>
              <a:t>This lab ends with GPIO, loops, inputs, PWM, ADC and interrupts. Keep the circuit and code for later extensions.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B7B4E2-32FF-490E-8551-71CF1E59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B8B70E-CDFC-4A3C-A804-3D8DE810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85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750" b="0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Appendix  /  quick reference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6D21A5-D13C-4160-A6B9-50CEAA2C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defRPr>
            </a:pPr>
            <a:r>
              <a:rPr sz="900" b="1" i="0">
                <a:solidFill>
                  <a:srgbClr val="617284"/>
                </a:solidFill>
                <a:latin typeface="Noto Sans"/>
                <a:ea typeface="Noto Sans"/>
                <a:cs typeface="Noto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37803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2026-09-11T13:17:36.8120000Z</dcterms:created>
  <dcterms:modified xsi:type="dcterms:W3CDTF">2026-09-11T13:17:36.8120000Z</dcterms:modified>
</coreProperties>
</file>